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83" r:id="rId3"/>
    <p:sldId id="258" r:id="rId4"/>
    <p:sldId id="259" r:id="rId5"/>
    <p:sldId id="284" r:id="rId6"/>
    <p:sldId id="273" r:id="rId7"/>
    <p:sldId id="274" r:id="rId8"/>
    <p:sldId id="275" r:id="rId9"/>
    <p:sldId id="276" r:id="rId10"/>
    <p:sldId id="285" r:id="rId11"/>
    <p:sldId id="277" r:id="rId12"/>
    <p:sldId id="278" r:id="rId13"/>
    <p:sldId id="279" r:id="rId14"/>
    <p:sldId id="280" r:id="rId15"/>
    <p:sldId id="281" r:id="rId16"/>
    <p:sldId id="282" r:id="rId17"/>
    <p:sldId id="288" r:id="rId18"/>
    <p:sldId id="257" r:id="rId19"/>
    <p:sldId id="289" r:id="rId20"/>
    <p:sldId id="290" r:id="rId21"/>
    <p:sldId id="291" r:id="rId22"/>
    <p:sldId id="292" r:id="rId23"/>
    <p:sldId id="286" r:id="rId24"/>
    <p:sldId id="260" r:id="rId25"/>
    <p:sldId id="261" r:id="rId26"/>
    <p:sldId id="262" r:id="rId27"/>
    <p:sldId id="264" r:id="rId28"/>
    <p:sldId id="287" r:id="rId29"/>
    <p:sldId id="266" r:id="rId30"/>
    <p:sldId id="267" r:id="rId31"/>
    <p:sldId id="271" r:id="rId32"/>
    <p:sldId id="293" r:id="rId33"/>
    <p:sldId id="294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7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39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54864"/>
          </a:xfrm>
          <a:prstGeom prst="rect">
            <a:avLst/>
          </a:prstGeom>
          <a:solidFill>
            <a:srgbClr val="00BFA5">
              <a:alpha val="6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657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NEL BANKING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paradigma conversazionale all'Agent Engineering: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opportunità, architetture e governance per i servizi finanziari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8288" cy="51435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AccentPanel"/>
          <p:cNvSpPr/>
          <p:nvPr/>
        </p:nvSpPr>
        <p:spPr>
          <a:xfrm>
            <a:off x="0" y="0"/>
            <a:ext cx="2400840" cy="5143500"/>
          </a:xfrm>
          <a:prstGeom prst="rect">
            <a:avLst/>
          </a:prstGeom>
          <a:solidFill>
            <a:srgbClr val="1565C0">
              <a:alpha val="1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BottomLine"/>
          <p:cNvSpPr/>
          <p:nvPr/>
        </p:nvSpPr>
        <p:spPr>
          <a:xfrm>
            <a:off x="0" y="4891320"/>
            <a:ext cx="9144000" cy="45720"/>
          </a:xfrm>
          <a:prstGeom prst="rect">
            <a:avLst/>
          </a:prstGeom>
          <a:solidFill>
            <a:srgbClr val="1565C0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ectionNum"/>
          <p:cNvSpPr/>
          <p:nvPr/>
        </p:nvSpPr>
        <p:spPr>
          <a:xfrm>
            <a:off x="2743200" y="548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dirty="0">
                <a:solidFill>
                  <a:srgbClr val="1565C0">
                    <a:alpha val="35000"/>
                  </a:srgbClr>
                </a:solidFill>
                <a:latin typeface="Trebuchet MS" pitchFamily="34" charset="0"/>
              </a:rPr>
              <a:t>01</a:t>
            </a:r>
          </a:p>
        </p:txBody>
      </p:sp>
      <p:sp>
        <p:nvSpPr>
          <p:cNvPr id="6" name="SectionTitle"/>
          <p:cNvSpPr/>
          <p:nvPr/>
        </p:nvSpPr>
        <p:spPr>
          <a:xfrm>
            <a:off x="2743200" y="1645920"/>
            <a:ext cx="610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it-IT" sz="3600" b="1" kern="0" spc="50" dirty="0">
                <a:solidFill>
                  <a:srgbClr val="FFFFFF"/>
                </a:solidFill>
                <a:latin typeface="Trebuchet MS" pitchFamily="34" charset="0"/>
              </a:rPr>
              <a:t>IL PARADIGMA AGENTICO</a:t>
            </a:r>
          </a:p>
        </p:txBody>
      </p:sp>
      <p:sp>
        <p:nvSpPr>
          <p:cNvPr id="7" name="TitleLine"/>
          <p:cNvSpPr/>
          <p:nvPr/>
        </p:nvSpPr>
        <p:spPr>
          <a:xfrm>
            <a:off x="2743200" y="2972880"/>
            <a:ext cx="3200400" cy="274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ectionSubtitle"/>
          <p:cNvSpPr/>
          <p:nvPr/>
        </p:nvSpPr>
        <p:spPr>
          <a:xfrm>
            <a:off x="2743200" y="3109320"/>
            <a:ext cx="610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</a:rPr>
              <a:t>Cos’è l’AI agentica e come è evoluta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COS'È L'AI AGENTICA E PERCHÈ È DIVERSA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64008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34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Conversazionale (Chat)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→ una risposta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= testo accumulato nella sessione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autonomia decisionale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Degrado progressivo del contesto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tracciabile, non auditabile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 controlla ogni passaggio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468880"/>
            <a:ext cx="41148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4846320" y="1005840"/>
            <a:ext cx="3840480" cy="640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2344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23560" y="1234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Agentica (Agent Loop)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074920" y="18745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Pianifica, esegue, verifica autonomamente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persistente esterno alla sessione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 intermedie autonome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Cicli re-istanziabili e paralleli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completo e ricostruibile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Human-on-the-loop: supervisione strategica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solidFill>
            <a:srgbClr val="0B192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non risponde: esegue processi strutturati, tracciabili e governabili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EVOLUZIONE DELLE ARCHITETTURE AGENTICHE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completion statica ai Coordinated Agent Loops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72768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09244" y="1325880"/>
            <a:ext cx="594360" cy="594360"/>
          </a:xfrm>
          <a:prstGeom prst="ellipse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45389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1a GEN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3192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93192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prompt, una risposta.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memoria.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74520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29968" y="1143000"/>
            <a:ext cx="1572768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2519172" y="1325880"/>
            <a:ext cx="594360" cy="594360"/>
          </a:xfrm>
          <a:prstGeom prst="ellipse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616" y="145389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29968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2a GEN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103120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Conversazione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multi-turno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103120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bidirezionale.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Degrado del contesto.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84448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739896" y="1143000"/>
            <a:ext cx="1572768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4229100" y="1325880"/>
            <a:ext cx="594360" cy="594360"/>
          </a:xfrm>
          <a:prstGeom prst="ellipse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45389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39896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3a GEN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813048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Strumenti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813048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calling.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singolo agente.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294376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5449824" y="1143000"/>
            <a:ext cx="1572768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5939028" y="1325880"/>
            <a:ext cx="594360" cy="594360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1453896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49824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4a GEN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522976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522976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Orchestratore centrale.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 di bottiglia.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004304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159752" y="1143000"/>
            <a:ext cx="1572768" cy="3200400"/>
          </a:xfrm>
          <a:prstGeom prst="rect">
            <a:avLst/>
          </a:prstGeom>
          <a:solidFill>
            <a:srgbClr val="00BFA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27"/>
          <p:cNvSpPr/>
          <p:nvPr/>
        </p:nvSpPr>
        <p:spPr>
          <a:xfrm>
            <a:off x="7648956" y="1325880"/>
            <a:ext cx="594360" cy="594360"/>
          </a:xfrm>
          <a:prstGeom prst="ellipse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453896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59752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5a GEN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232904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Loop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coordinati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232904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persistente.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Parallelismo reale.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943600" y="4480560"/>
            <a:ext cx="2926080" cy="347472"/>
          </a:xfrm>
          <a:prstGeom prst="rect">
            <a:avLst/>
          </a:prstGeom>
          <a:solidFill>
            <a:srgbClr val="0B192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2"/>
          <p:cNvSpPr/>
          <p:nvPr/>
        </p:nvSpPr>
        <p:spPr>
          <a:xfrm>
            <a:off x="5943600" y="4480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CAMBIO DI PARADIGMA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8288" cy="514350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AccentPanel"/>
          <p:cNvSpPr/>
          <p:nvPr/>
        </p:nvSpPr>
        <p:spPr>
          <a:xfrm>
            <a:off x="0" y="0"/>
            <a:ext cx="2400840" cy="5143500"/>
          </a:xfrm>
          <a:prstGeom prst="rect">
            <a:avLst/>
          </a:prstGeom>
          <a:solidFill>
            <a:srgbClr val="7C4DFF">
              <a:alpha val="1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BottomLine"/>
          <p:cNvSpPr/>
          <p:nvPr/>
        </p:nvSpPr>
        <p:spPr>
          <a:xfrm>
            <a:off x="0" y="4891320"/>
            <a:ext cx="9144000" cy="45720"/>
          </a:xfrm>
          <a:prstGeom prst="rect">
            <a:avLst/>
          </a:prstGeom>
          <a:solidFill>
            <a:srgbClr val="7C4D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ectionNum"/>
          <p:cNvSpPr/>
          <p:nvPr/>
        </p:nvSpPr>
        <p:spPr>
          <a:xfrm>
            <a:off x="2743200" y="548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dirty="0">
                <a:solidFill>
                  <a:srgbClr val="7C4DFF">
                    <a:alpha val="35000"/>
                  </a:srgbClr>
                </a:solidFill>
                <a:latin typeface="Trebuchet MS" pitchFamily="34" charset="0"/>
              </a:rPr>
              <a:t>02</a:t>
            </a:r>
          </a:p>
        </p:txBody>
      </p:sp>
      <p:sp>
        <p:nvSpPr>
          <p:cNvPr id="6" name="SectionTitle"/>
          <p:cNvSpPr/>
          <p:nvPr/>
        </p:nvSpPr>
        <p:spPr>
          <a:xfrm>
            <a:off x="2743200" y="1645920"/>
            <a:ext cx="610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it-IT" sz="3600" b="1" kern="0" spc="50" dirty="0">
                <a:solidFill>
                  <a:srgbClr val="FFFFFF"/>
                </a:solidFill>
                <a:latin typeface="Trebuchet MS" pitchFamily="34" charset="0"/>
              </a:rPr>
              <a:t>COME FUNZIONANO GLI AGENTI</a:t>
            </a:r>
          </a:p>
        </p:txBody>
      </p:sp>
      <p:sp>
        <p:nvSpPr>
          <p:cNvPr id="7" name="TitleLine"/>
          <p:cNvSpPr/>
          <p:nvPr/>
        </p:nvSpPr>
        <p:spPr>
          <a:xfrm>
            <a:off x="2743200" y="2972880"/>
            <a:ext cx="3200400" cy="27432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ectionSubtitle"/>
          <p:cNvSpPr/>
          <p:nvPr/>
        </p:nvSpPr>
        <p:spPr>
          <a:xfrm>
            <a:off x="2743200" y="3109320"/>
            <a:ext cx="610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</a:rPr>
              <a:t>Memoria, ragionamento, azioni e coordinamento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MEMORIA: CONTESTO, STATO E RAG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gli agenti superano i limiti della memoria delle chat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“nativa” dell’LLM: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limitata a 8K-200K token.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persistenza tra sessioni.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database e strutture dati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esterne alla sessione.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degrado del contesto.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RAG: Retrieval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Augmented Gen.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vettoriale: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semantico di documenti.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Conoscenza illimitata e aggiornabile.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 esperienze passate.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di pattern e soluzioni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 senza fine-tuning.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 E REACT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l’agente scompone problemi complessi in passi verificabili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L’LLM esplicita il ragionamento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 prima della risposta.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passo è verificabile.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ReAct: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 + Act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 → Agisce → Osserva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Ragiona di nuovo.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Adattamento in tempo reale.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Completo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decisione intermedia è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registrata e ricostruibile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post per compliance.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Self-Refine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Riflessione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L’agente valuta il proprio output,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 errori e itera fino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criteri formali di qualità.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USE E FUNCTION CALLING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meccanismo con cui l’LLM interagisce con il mondo esterno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Osserva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Contesto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obiettivo, stato corrente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risultati delle azioni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precedenti. Input completo.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Ragiona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Pianifica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quale strumento usare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 quali parametri.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esplicita e tracciabile.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Chiama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Strumento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la chiamata: API,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motore di calcolo.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L’azione è strutturata.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Integra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Risposta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L’output viene incorporato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ragionamento. L’agente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il passo successivo.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ORCHESTRAZIONE MULTI-AGENTE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agenti specializzati cooperano per task complessi in parallelo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Scomposi-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zione Task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L’orchestratore divide l’obiettivo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sotto-task indipendenti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assegnabili in parallelo.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Assegna-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zione Parallela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specializzati (KYC,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credit) operano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parallelo senza bloccarsi.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Validazione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Risultati</a:t>
            </a:r>
            <a:endParaRPr lang="en-US" sz="1350" dirty="0"/>
          </a:p>
        </p:txBody>
      </p:sp>
      <p:sp>
        <p:nvSpPr>
          <p:cNvPr id="21" name="Text 16 EDITED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L’orchestratore verifica ogni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 criteri formali.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Fallimenti vengono rieseguiti.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Aggregazione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Sintesi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risultati validati vengono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combinati. Audit trail completo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ogni agente coinvolto.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8288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AccentPanel"/>
          <p:cNvSpPr/>
          <p:nvPr/>
        </p:nvSpPr>
        <p:spPr>
          <a:xfrm>
            <a:off x="0" y="0"/>
            <a:ext cx="2400840" cy="5143500"/>
          </a:xfrm>
          <a:prstGeom prst="rect">
            <a:avLst/>
          </a:prstGeom>
          <a:solidFill>
            <a:srgbClr val="00BFA5">
              <a:alpha val="1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BottomLine"/>
          <p:cNvSpPr/>
          <p:nvPr/>
        </p:nvSpPr>
        <p:spPr>
          <a:xfrm>
            <a:off x="0" y="4891320"/>
            <a:ext cx="9144000" cy="45720"/>
          </a:xfrm>
          <a:prstGeom prst="rect">
            <a:avLst/>
          </a:prstGeom>
          <a:solidFill>
            <a:srgbClr val="00BFA5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ectionNum"/>
          <p:cNvSpPr/>
          <p:nvPr/>
        </p:nvSpPr>
        <p:spPr>
          <a:xfrm>
            <a:off x="2743200" y="548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dirty="0">
                <a:solidFill>
                  <a:srgbClr val="00BFA5">
                    <a:alpha val="35000"/>
                  </a:srgbClr>
                </a:solidFill>
                <a:latin typeface="Trebuchet MS" pitchFamily="34" charset="0"/>
              </a:rPr>
              <a:t>03</a:t>
            </a:r>
          </a:p>
        </p:txBody>
      </p:sp>
      <p:sp>
        <p:nvSpPr>
          <p:cNvPr id="6" name="SectionTitle"/>
          <p:cNvSpPr/>
          <p:nvPr/>
        </p:nvSpPr>
        <p:spPr>
          <a:xfrm>
            <a:off x="2743200" y="1645920"/>
            <a:ext cx="610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it-IT" sz="3600" b="1" kern="0" spc="50" dirty="0">
                <a:solidFill>
                  <a:srgbClr val="FFFFFF"/>
                </a:solidFill>
                <a:latin typeface="Trebuchet MS" pitchFamily="34" charset="0"/>
              </a:rPr>
              <a:t>I FRAMEWORK DI SVILUPPO</a:t>
            </a:r>
          </a:p>
        </p:txBody>
      </p:sp>
      <p:sp>
        <p:nvSpPr>
          <p:cNvPr id="7" name="TitleLine"/>
          <p:cNvSpPr/>
          <p:nvPr/>
        </p:nvSpPr>
        <p:spPr>
          <a:xfrm>
            <a:off x="2743200" y="2972880"/>
            <a:ext cx="3200400" cy="2743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ectionSubtitle"/>
          <p:cNvSpPr/>
          <p:nvPr/>
        </p:nvSpPr>
        <p:spPr>
          <a:xfrm>
            <a:off x="2743200" y="3109320"/>
            <a:ext cx="610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</a:rPr>
              <a:t>LangGraph, CrewAI, AutoGen, OpenAI SDK, Claude SDK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stateful su grafo di stato - by LangChain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Architettura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Grafo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= agenti o funzioni.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 = transizioni condizionali.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fluisce nel grafo.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Stato 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Checkpointing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Persistenza nativa tra sessioni.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integrato.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e debug di ogni run.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Esempio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Bancario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KYC: ingestione doc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screening AML → scoring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decision. Tracciabile.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di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Forza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Flussi complessi e condizionali.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errori granulare.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LangChain nativo.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 agenti con ruoli, obiettivi e strumenti - by crewAI Inc.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 con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Ruolo Definito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agente ha ruolo,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e backstory.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un team specializzato.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Modalità di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Esecuzione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Hierarchical, Parallel.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Agent per orchestrazione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automatica.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Esempio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Bancario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Crew: Analyst (bilanci)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 Manager + Compliance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+ Final Reviewer.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di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Forza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leggibilità del codice.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multi-step coesi.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integrato nativo.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Conversazione strutturata tra agenti - by Microsoft Research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Conversazionale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si scambiano messaggi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 GroupChat strutturato.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agente ha ruolo e policy.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Esecuzione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 Codice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AssistantAgent genera Python/SQL.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UserProxyAgent lo esegue.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Iterazione fino al risultato.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Esempio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Bancario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Fraud: DataAgent (DB query)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AnalystAgent (pattern)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ComplianceAgent + Reporter.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di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Forza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per analisi dati e codice.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(GPT, Claude, Gemini).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Azure nativa.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AGENTS SDK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ufficiale OpenAI: leggero e production-ready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Minimalista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= LLM + tools + istruzioni.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minimale.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per la produzione.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 Agenti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cede il controllo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altro trasparentemente.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 come router.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Esempio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Bancario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Service: Triage Agent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KYC / Credit / Fraud Agent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escalation umana.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di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Forza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di apprendimento minima.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e tracciabilità nativi.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OpenAI continui.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AGENT SDK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profondo e parallel tool use - by Anthropic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esplicito prima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dell’azione. Per decisioni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complesse ad alto rischio.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Use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strumenti in parallelo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stessa chiamata.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 ridotta drasticamente.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Esempio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Bancario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Diligence: PDF bilanci +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DB + web search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parallelo → report finale.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di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Forza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Massimo reasoning e sicurezza.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Adatto a contesti regolamentati.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 per automazione.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CONFRONTO DEI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Scegliere il framework giusto per il contesto bancario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72768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09244" y="1325880"/>
            <a:ext cx="594360" cy="594360"/>
          </a:xfrm>
          <a:prstGeom prst="ellipse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45389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LANG-GRAPH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3192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stateful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93192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Flussi complessi,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nativo.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74520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29968" y="1143000"/>
            <a:ext cx="1572768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2519172" y="1325880"/>
            <a:ext cx="594360" cy="594360"/>
          </a:xfrm>
          <a:prstGeom prst="ellipse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45389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29968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103120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ruoli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103120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strutturati,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leggibilità.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84448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739896" y="1143000"/>
            <a:ext cx="1572768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4229100" y="1325880"/>
            <a:ext cx="594360" cy="594360"/>
          </a:xfrm>
          <a:prstGeom prst="ellipse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45389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39896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AUTOGEN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813048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tra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813048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dati,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 codice.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294376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5449824" y="1143000"/>
            <a:ext cx="1572768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5939028" y="1325880"/>
            <a:ext cx="594360" cy="594360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453896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49824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SDK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522976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leggeri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522976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prototyping,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004304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159752" y="1143000"/>
            <a:ext cx="1572768" cy="3200400"/>
          </a:xfrm>
          <a:prstGeom prst="rect">
            <a:avLst/>
          </a:prstGeom>
          <a:solidFill>
            <a:srgbClr val="00BFA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27"/>
          <p:cNvSpPr/>
          <p:nvPr/>
        </p:nvSpPr>
        <p:spPr>
          <a:xfrm>
            <a:off x="7648956" y="1325880"/>
            <a:ext cx="594360" cy="594360"/>
          </a:xfrm>
          <a:prstGeom prst="ellipse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453896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59752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SDK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232904" y="23591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profondo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232904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Contesti regolamentati,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use.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943600" y="4480560"/>
            <a:ext cx="2926080" cy="347472"/>
          </a:xfrm>
          <a:prstGeom prst="rect">
            <a:avLst/>
          </a:prstGeom>
          <a:solidFill>
            <a:srgbClr val="0B192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2"/>
          <p:cNvSpPr/>
          <p:nvPr/>
        </p:nvSpPr>
        <p:spPr>
          <a:xfrm>
            <a:off x="5943600" y="4480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NESSUN FRAMEWORK È UNIVERSALE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BFA5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560320" y="20116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PIATTAFORME DI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ORCHESTRAZIONE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560320" y="3566160"/>
            <a:ext cx="32004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560320" y="37947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Make, Power Automate, Airflow e la relazione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 framework agentici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PIATTAFORME DI ORCHESTRAZIONE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visual per connettere sistemi e automatizzare flussi operativi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777240" cy="777240"/>
          </a:xfrm>
          <a:prstGeom prst="ellipse">
            <a:avLst/>
          </a:prstGeom>
          <a:solidFill>
            <a:srgbClr val="E3F2FD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73" y="158831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3192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3192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self-hosted.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workflow builder.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integrazioni native.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custom in JS/Python.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96312" y="118872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496312" y="1188720"/>
            <a:ext cx="196596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044952" y="1417320"/>
            <a:ext cx="777240" cy="777240"/>
          </a:xfrm>
          <a:prstGeom prst="ellipse">
            <a:avLst/>
          </a:prstGeom>
          <a:solidFill>
            <a:srgbClr val="FFF3E0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945" y="1588313"/>
            <a:ext cx="435254" cy="435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9464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(ex Integromat)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569464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SaaS, no-code.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 visuali a flusso.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su integrazioni SaaS.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condizionale visuale.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672584" y="118872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672584" y="1188720"/>
            <a:ext cx="196596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221224" y="1417320"/>
            <a:ext cx="777240" cy="777240"/>
          </a:xfrm>
          <a:prstGeom prst="ellipse">
            <a:avLst/>
          </a:prstGeom>
          <a:solidFill>
            <a:srgbClr val="F3E5F5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217" y="1588313"/>
            <a:ext cx="435254" cy="43525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45736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745736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Microsoft.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Office 365.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Connettori enterprise.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 presente in molte banche.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848856" y="118872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848856" y="1188720"/>
            <a:ext cx="196596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397496" y="1417320"/>
            <a:ext cx="777240" cy="777240"/>
          </a:xfrm>
          <a:prstGeom prst="ellipse">
            <a:avLst/>
          </a:pr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8489" y="1588313"/>
            <a:ext cx="435254" cy="43525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2008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922008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 pipeline dati.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in Python.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enterprise-grade.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e retry nativi.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B192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deterministico definito a priori: l’utente disegna le connessioni, l’LLM è un nodo nel flusso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DIFFERENZA CHIAVE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deterministico vs ragionamento emergente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FFF3E0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3" y="158831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Orchestrazione Workflow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Make, Power Automate, Airflow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definito a priori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di nodi preconfigurata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L’LLM è un nodo nel flusso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condizionale esplicito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capacità di adattamento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visuale no-code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56032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11887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4846320" y="1188720"/>
            <a:ext cx="393192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5120640" y="1417320"/>
            <a:ext cx="777240" cy="777240"/>
          </a:xfrm>
          <a:prstGeom prst="ellipse">
            <a:avLst/>
          </a:pr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633" y="158831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8932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Agentici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98932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CrewAI, AutoGen, SDK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7492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emergente dal ragionamento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L’agente decide passi e sequenza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L’LLM è il decisore centrale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Adattamento in tempo reale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Iterazione autonoma fino al risultato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competenze di sviluppo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B192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sono alternative: operano a livelli architetturali diversi e si completano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ARCHITETTURA COMPLEMENTARE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workflow e agenti cooperano nello stack bancario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6F0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640080" cy="640080"/>
          </a:xfrm>
          <a:prstGeom prst="ellipse">
            <a:avLst/>
          </a:prstGeom>
          <a:solidFill>
            <a:srgbClr val="E65100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14209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LIVELLO WORKFLOW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1536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Power Automate / Airflow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234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trigger, routing tra sistemi,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notifiche, distribuzione output, monitoraggio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invoca  ↓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606040"/>
            <a:ext cx="7680960" cy="100584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914400" y="2697480"/>
            <a:ext cx="640080" cy="640080"/>
          </a:xfrm>
          <a:prstGeom prst="ellipse">
            <a:avLst/>
          </a:prstGeom>
          <a:solidFill>
            <a:srgbClr val="0D47A1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8" y="283829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LIVELLO AGENTICO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4592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 / SDK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Ragionamento, decisione, iterazione,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coordinamento multi-agente, ReAct loop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2004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chiama  ↓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solidFill>
            <a:srgbClr val="00BFA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00695C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418978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LIVELLO STRUMENTI E DATI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0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di mercato, database interni, sistemi AML, motori di calcolo, document store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ESEMPIO: REPORTISTICA PORTAFOGLIO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workflow </a:t>
            </a:r>
            <a:r>
              <a:rPr lang="en-US" sz="1300" dirty="0" err="1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esemplificativo</a:t>
            </a: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 combina orchestrazione e ragionamento agentico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7315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7:00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7400" y="1188720"/>
            <a:ext cx="1554480" cy="7315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05740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1188720"/>
            <a:ext cx="1554480" cy="7315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84048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1188720"/>
            <a:ext cx="1554480" cy="7315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62356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7804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640" y="1188720"/>
            <a:ext cx="1554480" cy="7315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40664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DISTRIBUISCI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email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Airflow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6092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Airflow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286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" y="2651760"/>
            <a:ext cx="7315200" cy="2103120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14400" y="2651760"/>
            <a:ext cx="54864" cy="21031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143000" y="2743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DENTRO L’AGENTE AI (ragionamento emergente)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7280" y="3200400"/>
            <a:ext cx="1234440" cy="594360"/>
          </a:xfrm>
          <a:prstGeom prst="rect">
            <a:avLst/>
          </a:prstGeom>
          <a:solidFill>
            <a:srgbClr val="00BFA5">
              <a:alpha val="30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097280" y="32004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3291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14600" y="3200400"/>
            <a:ext cx="1234440" cy="594360"/>
          </a:xfrm>
          <a:prstGeom prst="rect">
            <a:avLst/>
          </a:prstGeom>
          <a:solidFill>
            <a:srgbClr val="00BFA5">
              <a:alpha val="30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514600" y="32004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critici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49040" y="3291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31920" y="3200400"/>
            <a:ext cx="1234440" cy="594360"/>
          </a:xfrm>
          <a:prstGeom prst="rect">
            <a:avLst/>
          </a:prstGeom>
          <a:solidFill>
            <a:srgbClr val="00BFA5">
              <a:alpha val="30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3931920" y="32004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3291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49240" y="3200400"/>
            <a:ext cx="1234440" cy="594360"/>
          </a:xfrm>
          <a:prstGeom prst="rect">
            <a:avLst/>
          </a:prstGeom>
          <a:solidFill>
            <a:srgbClr val="00BFA5">
              <a:alpha val="30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349240" y="32004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Eventuali</a:t>
            </a: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3291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66560" y="3200400"/>
            <a:ext cx="1234440" cy="594360"/>
          </a:xfrm>
          <a:prstGeom prst="rect">
            <a:avLst/>
          </a:prstGeom>
          <a:solidFill>
            <a:srgbClr val="00BFA5">
              <a:alpha val="30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766560" y="32004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300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e numero di passi decisi dall’agente a runtime — non predeterminati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251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può iterare se il risultato non supera la verifica di qualità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USARE COSA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 </a:t>
            </a:r>
            <a:r>
              <a:rPr lang="en-US" sz="1400" i="1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decisionale</a:t>
            </a: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5717" y="118872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285717" y="1188720"/>
            <a:ext cx="196596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834357" y="1417320"/>
            <a:ext cx="777240" cy="777240"/>
          </a:xfrm>
          <a:prstGeom prst="ellipse">
            <a:avLst/>
          </a:prstGeom>
          <a:solidFill>
            <a:srgbClr val="FFF3E0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350" y="158831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8869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58869" y="3017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prevedibile e sequenziale.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distribuzione report,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notifiche, scheduling.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ragionamento adattivo.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No-code, rapido da implementare.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61989" y="118872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461989" y="1188720"/>
            <a:ext cx="196596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4010629" y="1417320"/>
            <a:ext cx="777240" cy="777240"/>
          </a:xfrm>
          <a:prstGeom prst="ellipse">
            <a:avLst/>
          </a:prstGeom>
          <a:solidFill>
            <a:srgbClr val="E3F2FD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622" y="1588313"/>
            <a:ext cx="435254" cy="435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5141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35141" y="3017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complesso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predeterminabile.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creditizia, due diligence,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analysis.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sviluppatori.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38261" y="118872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5638261" y="1188720"/>
            <a:ext cx="196596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6186901" y="1417320"/>
            <a:ext cx="777240" cy="777240"/>
          </a:xfrm>
          <a:prstGeom prst="ellipse">
            <a:avLst/>
          </a:pr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94" y="1588313"/>
            <a:ext cx="435254" cy="43525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11413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+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711413" y="3017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regolare che invoca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complesso.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portafoglio, monitoring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continuo, pipeline batch.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matura.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B192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complessità non è un valore: è un costo da giustificare. Partire dal livello più semplice.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8288" cy="51435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AccentPanel"/>
          <p:cNvSpPr/>
          <p:nvPr/>
        </p:nvSpPr>
        <p:spPr>
          <a:xfrm>
            <a:off x="0" y="0"/>
            <a:ext cx="2400840" cy="5143500"/>
          </a:xfrm>
          <a:prstGeom prst="rect">
            <a:avLst/>
          </a:prstGeom>
          <a:solidFill>
            <a:srgbClr val="FF6F00">
              <a:alpha val="1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BottomLine"/>
          <p:cNvSpPr/>
          <p:nvPr/>
        </p:nvSpPr>
        <p:spPr>
          <a:xfrm>
            <a:off x="0" y="4891320"/>
            <a:ext cx="9144000" cy="45720"/>
          </a:xfrm>
          <a:prstGeom prst="rect">
            <a:avLst/>
          </a:prstGeom>
          <a:solidFill>
            <a:srgbClr val="FF6F00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ectionNum"/>
          <p:cNvSpPr/>
          <p:nvPr/>
        </p:nvSpPr>
        <p:spPr>
          <a:xfrm>
            <a:off x="2743200" y="548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dirty="0">
                <a:solidFill>
                  <a:srgbClr val="FF6F00">
                    <a:alpha val="35000"/>
                  </a:srgbClr>
                </a:solidFill>
                <a:latin typeface="Trebuchet MS" pitchFamily="34" charset="0"/>
              </a:rPr>
              <a:t>05</a:t>
            </a:r>
          </a:p>
        </p:txBody>
      </p:sp>
      <p:sp>
        <p:nvSpPr>
          <p:cNvPr id="6" name="SectionTitle"/>
          <p:cNvSpPr/>
          <p:nvPr/>
        </p:nvSpPr>
        <p:spPr>
          <a:xfrm>
            <a:off x="2743200" y="1645920"/>
            <a:ext cx="610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it-IT" sz="3600" b="1" kern="0" spc="50" dirty="0">
                <a:solidFill>
                  <a:srgbClr val="FFFFFF"/>
                </a:solidFill>
                <a:latin typeface="Trebuchet MS" pitchFamily="34" charset="0"/>
              </a:rPr>
              <a:t>APPLICAZIONI E USE CASE</a:t>
            </a:r>
          </a:p>
        </p:txBody>
      </p:sp>
      <p:sp>
        <p:nvSpPr>
          <p:cNvPr id="7" name="TitleLine"/>
          <p:cNvSpPr/>
          <p:nvPr/>
        </p:nvSpPr>
        <p:spPr>
          <a:xfrm>
            <a:off x="2743200" y="2972880"/>
            <a:ext cx="3200400" cy="27432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ectionSubtitle"/>
          <p:cNvSpPr/>
          <p:nvPr/>
        </p:nvSpPr>
        <p:spPr>
          <a:xfrm>
            <a:off x="2743200" y="3109320"/>
            <a:ext cx="610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</a:rPr>
              <a:t>Agent loop operativi e scenari bancari concreti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L'AGENT LOOP: COME FUNZIONA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2194560" cy="2194560"/>
          </a:xfrm>
          <a:prstGeom prst="ellipse">
            <a:avLst/>
          </a:prstGeom>
          <a:solidFill>
            <a:srgbClr val="00BFA5">
              <a:alpha val="15000"/>
            </a:srgbClr>
          </a:solidFill>
          <a:ln w="25400">
            <a:solidFill>
              <a:srgbClr val="00BFA5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468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EFFIMERA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914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Re-istanziazione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01752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Lettura stato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402336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5448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Esecuzione task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402336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56616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Scrittura stato</a:t>
            </a:r>
            <a:endParaRPr lang="en-US" sz="10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0" y="2194560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48056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Terminazione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5486400" y="914400"/>
            <a:ext cx="3200400" cy="3291840"/>
          </a:xfrm>
          <a:prstGeom prst="rect">
            <a:avLst/>
          </a:prstGeom>
          <a:solidFill>
            <a:srgbClr val="14264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9"/>
          <p:cNvSpPr/>
          <p:nvPr/>
        </p:nvSpPr>
        <p:spPr>
          <a:xfrm>
            <a:off x="5486400" y="914400"/>
            <a:ext cx="32004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0"/>
          <p:cNvSpPr/>
          <p:nvPr/>
        </p:nvSpPr>
        <p:spPr>
          <a:xfrm>
            <a:off x="562356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STATO PERSISTENTE ESTERNO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554480"/>
            <a:ext cx="228600" cy="2286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03504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 formali</a:t>
            </a:r>
            <a:endParaRPr lang="en-US" sz="11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2011680"/>
            <a:ext cx="228600" cy="2286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03504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file</a:t>
            </a:r>
            <a:endParaRPr lang="en-US" sz="11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0" y="2468880"/>
            <a:ext cx="228600" cy="228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03504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operative</a:t>
            </a:r>
            <a:endParaRPr lang="en-US" sz="11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926080"/>
            <a:ext cx="228600" cy="2286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03504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 di stato</a:t>
            </a:r>
            <a:endParaRPr lang="en-US" sz="11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3383280"/>
            <a:ext cx="228600" cy="2286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035040" y="3383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parziali</a:t>
            </a:r>
            <a:endParaRPr lang="en-US" sz="1100" dirty="0"/>
          </a:p>
        </p:txBody>
      </p:sp>
      <p:sp>
        <p:nvSpPr>
          <p:cNvPr id="29" name="Shape 16"/>
          <p:cNvSpPr/>
          <p:nvPr/>
        </p:nvSpPr>
        <p:spPr>
          <a:xfrm>
            <a:off x="548640" y="4526280"/>
            <a:ext cx="8229600" cy="347472"/>
          </a:xfrm>
          <a:prstGeom prst="rect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17"/>
          <p:cNvSpPr/>
          <p:nvPr/>
        </p:nvSpPr>
        <p:spPr>
          <a:xfrm>
            <a:off x="731520" y="45262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sessione è effimera, lo stato è persistente → nessun degrado del contesto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COORDINAMENTO DI AGENT LOOP PARALLELI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914400"/>
            <a:ext cx="4572000" cy="64008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0058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0" y="914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ORCHESTRATORE DI 2° LIVELLO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1737360" cy="27432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agenti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880360" y="1737360"/>
            <a:ext cx="1737360" cy="27432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28803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 task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46320" y="1737360"/>
            <a:ext cx="1737360" cy="27432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84632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output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12280" y="1737360"/>
            <a:ext cx="1737360" cy="27432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81228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Chiude/ricicla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01168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8056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4944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514600"/>
            <a:ext cx="2560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658368" y="2651760"/>
            <a:ext cx="411480" cy="41148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2491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43000" y="2633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KYC / AML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8580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documentale,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screening, risk scoring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474720" y="2514600"/>
            <a:ext cx="2560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4D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9"/>
          <p:cNvSpPr/>
          <p:nvPr/>
        </p:nvSpPr>
        <p:spPr>
          <a:xfrm>
            <a:off x="3584448" y="2651760"/>
            <a:ext cx="411480" cy="411480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72491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069080" y="2633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Analysis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61188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bilancio, DCF,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comparables, rating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0" y="2514600"/>
            <a:ext cx="2560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F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3"/>
          <p:cNvSpPr/>
          <p:nvPr/>
        </p:nvSpPr>
        <p:spPr>
          <a:xfrm>
            <a:off x="6510528" y="2651760"/>
            <a:ext cx="411480" cy="41148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72491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95160" y="2633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Detection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6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53796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solidFill>
            <a:srgbClr val="0B192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27"/>
          <p:cNvSpPr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loop è indipendente → parallelismo reale, scalabilità, resilienza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CASE: AI AGENTI NEL BANKING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aree dove le banche stanno ottenendo il massimo valore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solidFill>
            <a:srgbClr val="1426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" cy="3474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automatizzato end-to-end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 intelligente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personalizzato e proattivo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con verifica documentale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1426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3291840" y="1097280"/>
            <a:ext cx="54864" cy="3474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&amp; COMPLIANCE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7472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transazioni in tempo reale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7472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multi-layer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7472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normativa continua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7472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e assessment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1426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7"/>
          <p:cNvSpPr/>
          <p:nvPr/>
        </p:nvSpPr>
        <p:spPr>
          <a:xfrm>
            <a:off x="6217920" y="1097280"/>
            <a:ext cx="54864" cy="347472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801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OPERAZIONI E ANALISI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Riconciliazioni automatiche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0080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regolamentare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0080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documentale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0080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d'azienda multi-agente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FOCUS: RISK MANAGEMENT E FRAUD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005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Assessment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1554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che analizzano bilanci, estraggono KPI, calcolano scoring, confrontano con benchmark settoriali e propongono rating — con audit trail completo di ogni decisione intermedia.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54880" y="9144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515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005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Monitoring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92040" y="1554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continuo dei flussi in tempo reale. Soglie dinamiche, clustering temporale, correlazione multi-variabile. Distinzione automatica tra rumore e anomalie strutturali.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7432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803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Detection Multi-Layer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94360" y="3383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specializzati su pattern diversi (frode su carta, identity theft, money laundering) che operano in parallelo su pool di transazioni, con escalation graduata.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8803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Continua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892040" y="3383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normativo permanente: variazioni regolamentari, aggiornamento policy interne, verifica conformità documentale. Report periodici automatici.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8288" cy="514350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AccentPanel"/>
          <p:cNvSpPr/>
          <p:nvPr/>
        </p:nvSpPr>
        <p:spPr>
          <a:xfrm>
            <a:off x="0" y="0"/>
            <a:ext cx="2400840" cy="5143500"/>
          </a:xfrm>
          <a:prstGeom prst="rect">
            <a:avLst/>
          </a:prstGeom>
          <a:solidFill>
            <a:srgbClr val="E53935">
              <a:alpha val="1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BottomLine"/>
          <p:cNvSpPr/>
          <p:nvPr/>
        </p:nvSpPr>
        <p:spPr>
          <a:xfrm>
            <a:off x="0" y="4891320"/>
            <a:ext cx="9144000" cy="45720"/>
          </a:xfrm>
          <a:prstGeom prst="rect">
            <a:avLst/>
          </a:prstGeom>
          <a:solidFill>
            <a:srgbClr val="E53935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ectionNum"/>
          <p:cNvSpPr/>
          <p:nvPr/>
        </p:nvSpPr>
        <p:spPr>
          <a:xfrm>
            <a:off x="2743200" y="548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dirty="0">
                <a:solidFill>
                  <a:srgbClr val="E53935">
                    <a:alpha val="35000"/>
                  </a:srgbClr>
                </a:solidFill>
                <a:latin typeface="Trebuchet MS" pitchFamily="34" charset="0"/>
              </a:rPr>
              <a:t>06</a:t>
            </a:r>
          </a:p>
        </p:txBody>
      </p:sp>
      <p:sp>
        <p:nvSpPr>
          <p:cNvPr id="6" name="SectionTitle"/>
          <p:cNvSpPr/>
          <p:nvPr/>
        </p:nvSpPr>
        <p:spPr>
          <a:xfrm>
            <a:off x="2743200" y="1645920"/>
            <a:ext cx="610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it-IT" sz="3600" b="1" kern="0" spc="50" dirty="0">
                <a:solidFill>
                  <a:srgbClr val="FFFFFF"/>
                </a:solidFill>
                <a:latin typeface="Trebuchet MS" pitchFamily="34" charset="0"/>
              </a:rPr>
              <a:t>GOVERNANCE E COMPLIANCE</a:t>
            </a:r>
          </a:p>
        </p:txBody>
      </p:sp>
      <p:sp>
        <p:nvSpPr>
          <p:cNvPr id="7" name="TitleLine"/>
          <p:cNvSpPr/>
          <p:nvPr/>
        </p:nvSpPr>
        <p:spPr>
          <a:xfrm>
            <a:off x="2743200" y="2972880"/>
            <a:ext cx="3200400" cy="27432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ectionSubtitle"/>
          <p:cNvSpPr/>
          <p:nvPr/>
        </p:nvSpPr>
        <p:spPr>
          <a:xfrm>
            <a:off x="2743200" y="3109320"/>
            <a:ext cx="610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</a:rPr>
              <a:t>Engineering, qualità, normativa europea e gestione dei rischi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ENGINEERING: IL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prompt design intuitivo a spec-driven design formale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Spec-Driven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 formali,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prompt intuitivi.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Strutture dati esplicite.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Decomposition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Scomposizione rigorosa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sotto-task indipendenti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verificabili.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394960" y="1371600"/>
            <a:ext cx="594360" cy="594360"/>
          </a:xfrm>
          <a:prstGeom prst="ellipse">
            <a:avLst/>
          </a:prstGeom>
          <a:solidFill>
            <a:srgbClr val="00BFA5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Verificabili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4632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automatiche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gate di qualità.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ReAct.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03720" y="11430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543800" y="1371600"/>
            <a:ext cx="594360" cy="594360"/>
          </a:xfrm>
          <a:prstGeom prst="ellipse">
            <a:avLst/>
          </a:prstGeom>
          <a:solidFill>
            <a:srgbClr val="FF6F0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Human-on-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the-Loop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95160" y="2788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Supervisione strategica.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strutturata.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micro-gestione.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QUALITÀ, TRACCIABILITÀ E AUDIT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3474720"/>
          </a:xfrm>
          <a:prstGeom prst="rect">
            <a:avLst/>
          </a:prstGeom>
          <a:solidFill>
            <a:srgbClr val="1426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" cy="3474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QUALITÀ ITERATIVA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 / Reflexion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Anti-regressione strutturale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Raffinamento iterativo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914400"/>
            <a:ext cx="2651760" cy="3474720"/>
          </a:xfrm>
          <a:prstGeom prst="rect">
            <a:avLst/>
          </a:prstGeom>
          <a:solidFill>
            <a:srgbClr val="1426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291840" y="914400"/>
            <a:ext cx="54864" cy="3474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0972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TRACCIABILITÀ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/ ReAct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747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Attribuzione multi-agente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747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Interpretabilità normativa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914400"/>
            <a:ext cx="2651760" cy="3474720"/>
          </a:xfrm>
          <a:prstGeom prst="rect">
            <a:avLst/>
          </a:prstGeom>
          <a:solidFill>
            <a:srgbClr val="1426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6217920" y="914400"/>
            <a:ext cx="54864" cy="347472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972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&amp; FAIL-SAFE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pattern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Gerarchia di escalation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ambito bancario, ogni decisione dell'agente deve essere ricostruibile ex post per fini regolamentari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RISCHI SPECIFICI DEGLI AGENTI AI NEL BANKING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" cy="155448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Rischi operativi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concatenati amplificati dalla velocità. Accumulo di bias. Dipendenza da pochi provider di modelli.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54864" cy="155448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47472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Rischi di compliance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417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non conforme a MiFID II, AI Act o GDPR. Difficoltà di ricostruzione ex post delle decisioni.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54864" cy="155448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Rischi reputazionali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417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Risposte errate ai clienti. Discriminazione algoritmica. Perdita di fiducia se l'automazione fallisce.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54864" cy="1554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rivoluzione della velocità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agenti operano a velocità che supera la capacità di supervisione umana tradizionale.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291840" y="2743200"/>
            <a:ext cx="54864" cy="155448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4747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Obsolescenza competenze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competenze professionali si ridefiniscono. Il rischio è il gap tra velocità dell'AI e formazione.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6217920" y="2743200"/>
            <a:ext cx="54864" cy="155448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4008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Concentrazione fornitori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Dipendenza da pochi provider (OpenAI, Anthropic, Google). DORA richiede strategie multi-modello.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BFA5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560320" y="20116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CONCLUSIONI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560320" y="3200400"/>
            <a:ext cx="32004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560320" y="3429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Takeaway, raccomandazioni e prossimi passi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6 TAKEAWAY CHIAVE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4864" cy="18288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5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987552"/>
            <a:ext cx="502920" cy="502920"/>
          </a:xfrm>
          <a:prstGeom prst="ellipse">
            <a:avLst/>
          </a:pr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1098194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Dalla chat al processo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agenti non rispondono: eseguono processi strutturati con stato persistente, audit trail e supervisione umana strategica.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91440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54864" cy="18288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383280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749040" y="987552"/>
            <a:ext cx="502920" cy="502920"/>
          </a:xfrm>
          <a:prstGeom prst="ellipse">
            <a:avLst/>
          </a:prstGeom>
          <a:solidFill>
            <a:srgbClr val="E3F2FD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682" y="1098194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9768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L’architettura conta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1554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 Loop con stato esterno elimina il degrado del contesto. Il coordinamento parallelo abilita scalabilità reale.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91440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6126480" y="914400"/>
            <a:ext cx="54864" cy="18288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6309360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5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675120" y="987552"/>
            <a:ext cx="502920" cy="502920"/>
          </a:xfrm>
          <a:prstGeom prst="ellipse">
            <a:avLst/>
          </a:pr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762" y="1098194"/>
            <a:ext cx="281635" cy="28163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2376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Due livelli, non uno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1554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 workflow (n8n, Airflow) e framework agentici (LangGraph, SDK) sono complementari, non alternativi.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4320" y="297180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274320" y="2971800"/>
            <a:ext cx="54864" cy="18288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45720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822960" y="3044952"/>
            <a:ext cx="502920" cy="502920"/>
          </a:xfrm>
          <a:prstGeom prst="ellipse">
            <a:avLst/>
          </a:prstGeom>
          <a:solidFill>
            <a:srgbClr val="E3F2FD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" y="3155594"/>
            <a:ext cx="281635" cy="28163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7160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bancari maturi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36118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KYC, credit scoring, fraud detection, compliance continua: già in produzione nelle principali istituzioni globali.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200400" y="297180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6"/>
          <p:cNvSpPr/>
          <p:nvPr/>
        </p:nvSpPr>
        <p:spPr>
          <a:xfrm>
            <a:off x="3200400" y="2971800"/>
            <a:ext cx="54864" cy="182880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27"/>
          <p:cNvSpPr/>
          <p:nvPr/>
        </p:nvSpPr>
        <p:spPr>
          <a:xfrm>
            <a:off x="338328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4D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3749040" y="3044952"/>
            <a:ext cx="502920" cy="502920"/>
          </a:xfrm>
          <a:prstGeom prst="ellipse">
            <a:avLst/>
          </a:prstGeom>
          <a:solidFill>
            <a:srgbClr val="F3E5F5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9682" y="3155594"/>
            <a:ext cx="281635" cy="28163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29768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by design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3383280" y="36118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Act, MiFID II, DORA, GDPR richiedono tracciabilità, supervisione umana effettiva e audit trail nativo.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126480" y="297180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2"/>
          <p:cNvSpPr/>
          <p:nvPr/>
        </p:nvSpPr>
        <p:spPr>
          <a:xfrm>
            <a:off x="6126480" y="2971800"/>
            <a:ext cx="54864" cy="18288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3"/>
          <p:cNvSpPr/>
          <p:nvPr/>
        </p:nvSpPr>
        <p:spPr>
          <a:xfrm>
            <a:off x="630936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F00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41" name="Shape 34"/>
          <p:cNvSpPr/>
          <p:nvPr/>
        </p:nvSpPr>
        <p:spPr>
          <a:xfrm>
            <a:off x="6675120" y="3044952"/>
            <a:ext cx="502920" cy="502920"/>
          </a:xfrm>
          <a:prstGeom prst="ellipse">
            <a:avLst/>
          </a:prstGeom>
          <a:solidFill>
            <a:srgbClr val="FFF3E0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5762" y="3155594"/>
            <a:ext cx="281635" cy="281635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22376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Partire</a:t>
            </a: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semplici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6309360" y="36118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Partire</a:t>
            </a: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dal workflow più semplice, scalare con governance adeguata.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2244</Words>
  <Application>Microsoft Office PowerPoint</Application>
  <PresentationFormat>Presentazione su schermo (16:9)</PresentationFormat>
  <Paragraphs>575</Paragraphs>
  <Slides>33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7" baseType="lpstr">
      <vt:lpstr>Arial</vt:lpstr>
      <vt:lpstr>Calibri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nel Banking: dal paradigma conversazionale all'Agent Engineering</dc:title>
  <dc:subject>PptxGenJS Presentation</dc:subject>
  <dc:creator>Giovanni Della Lunga / AIAF</dc:creator>
  <cp:lastModifiedBy>Giovanni Della Lunga</cp:lastModifiedBy>
  <cp:revision>6</cp:revision>
  <dcterms:created xsi:type="dcterms:W3CDTF">2026-03-31T14:27:30Z</dcterms:created>
  <dcterms:modified xsi:type="dcterms:W3CDTF">2026-04-07T12:13:45Z</dcterms:modified>
</cp:coreProperties>
</file>