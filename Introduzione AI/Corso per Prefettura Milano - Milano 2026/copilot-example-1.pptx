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4" autoAdjust="0"/>
    <p:restoredTop sz="94660"/>
  </p:normalViewPr>
  <p:slideViewPr>
    <p:cSldViewPr snapToGrid="0">
      <p:cViewPr varScale="1">
        <p:scale>
          <a:sx n="77" d="100"/>
          <a:sy n="77" d="100"/>
        </p:scale>
        <p:origin x="858" y="7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c:style val="2"/>
  <c:chart>
    <c:title>
      <c:tx>
        <c:rich>
          <a:bodyPr/>
          <a:lstStyle/>
          <a:p>
            <a:pPr>
              <a:defRPr sz="1200" b="0" i="0" u="none" strike="noStrike">
                <a:solidFill>
                  <a:srgbClr val="0B3C6B"/>
                </a:solidFill>
                <a:latin typeface="Arial"/>
              </a:defRPr>
            </a:pPr>
            <a:r>
              <a:rPr lang="it-IT" sz="1200" b="0" i="0" u="none" strike="noStrike">
                <a:solidFill>
                  <a:srgbClr val="0B3C6B"/>
                </a:solidFill>
                <a:latin typeface="Arial"/>
              </a:rPr>
              <a:t>Tempo medio di evasione (giorni)</a:t>
            </a:r>
          </a:p>
        </c:rich>
      </c:tx>
      <c:overlay val="0"/>
    </c:title>
    <c:autoTitleDeleted val="0"/>
    <c:plotArea>
      <c:layout/>
      <c:barChart>
        <c:barDir val="bar"/>
        <c:grouping val="clustered"/>
        <c:varyColors val="0"/>
        <c:ser>
          <c:idx val="0"/>
          <c:order val="0"/>
          <c:tx>
            <c:strRef>
              <c:f>Sheet1!$B$1</c:f>
              <c:strCache>
                <c:ptCount val="1"/>
                <c:pt idx="0">
                  <c:v>Giorni</c:v>
                </c:pt>
              </c:strCache>
            </c:strRef>
          </c:tx>
          <c:spPr>
            <a:solidFill>
              <a:srgbClr val="1D6FB8"/>
            </a:solidFill>
            <a:effectLst/>
          </c:spPr>
          <c:invertIfNegative val="0"/>
          <c:dPt>
            <c:idx val="0"/>
            <c:invertIfNegative val="0"/>
            <c:bubble3D val="0"/>
            <c:extLst>
              <c:ext xmlns:c16="http://schemas.microsoft.com/office/drawing/2014/chart" uri="{C3380CC4-5D6E-409C-BE32-E72D297353CC}">
                <c16:uniqueId val="{00000001-87E9-4080-AD16-3F9ABA8A7241}"/>
              </c:ext>
            </c:extLst>
          </c:dPt>
          <c:dPt>
            <c:idx val="1"/>
            <c:invertIfNegative val="0"/>
            <c:bubble3D val="0"/>
            <c:spPr>
              <a:solidFill>
                <a:srgbClr val="8A9099"/>
              </a:solidFill>
              <a:effectLst/>
            </c:spPr>
            <c:extLst>
              <c:ext xmlns:c16="http://schemas.microsoft.com/office/drawing/2014/chart" uri="{C3380CC4-5D6E-409C-BE32-E72D297353CC}">
                <c16:uniqueId val="{00000003-87E9-4080-AD16-3F9ABA8A7241}"/>
              </c:ext>
            </c:extLst>
          </c:dPt>
          <c:dLbls>
            <c:numFmt formatCode="#,##0" sourceLinked="0"/>
            <c:spPr>
              <a:noFill/>
              <a:ln>
                <a:noFill/>
              </a:ln>
              <a:effectLst/>
            </c:spPr>
            <c:txPr>
              <a:bodyPr/>
              <a:lstStyle/>
              <a:p>
                <a:pPr>
                  <a:defRPr sz="1100" b="0" i="0" u="none" strike="noStrike">
                    <a:solidFill>
                      <a:srgbClr val="1E293B"/>
                    </a:solidFill>
                    <a:latin typeface="Arial"/>
                  </a:defRPr>
                </a:pPr>
                <a:endParaRPr lang="it-I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Pratiche online</c:v>
                </c:pt>
                <c:pt idx="1">
                  <c:v>Pratiche cartacee</c:v>
                </c:pt>
              </c:strCache>
            </c:strRef>
          </c:cat>
          <c:val>
            <c:numRef>
              <c:f>Sheet1!$B$2:$B$3</c:f>
              <c:numCache>
                <c:formatCode>General</c:formatCode>
                <c:ptCount val="2"/>
                <c:pt idx="0">
                  <c:v>5.2</c:v>
                </c:pt>
                <c:pt idx="1">
                  <c:v>8.6999999999999993</c:v>
                </c:pt>
              </c:numCache>
            </c:numRef>
          </c:val>
          <c:extLst>
            <c:ext xmlns:c16="http://schemas.microsoft.com/office/drawing/2014/chart" uri="{C3380CC4-5D6E-409C-BE32-E72D297353CC}">
              <c16:uniqueId val="{00000004-87E9-4080-AD16-3F9ABA8A724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4F5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7ECF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A9099"/>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‹N›</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dedicata allo stato di avanzamento del progetto di digitalizzazione delle istanze online. L'obiettivo e' duplice: fornire un quadro sintetico dei risultati e ottenere dalla Direzione le decisioni indicate nella slide finale. Il progetto e' stato avviato a marzo.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progetto e' stato avviato a marzo con l'obiettivo di portare online 12 procedimenti amministrativi entro dicembre. Il budget residuo ammonta a 38.000 euro. Le finalita' sono l'ampliamento dell'accesso online, la riduzione degli accessi allo sportello e dei tempi di evasione. Si segnala la scadenza della rendicontazione intermedia al 30 ottobre.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 oggi sono disponibili online quattro procedimenti: certificati anagrafici, cambio residenza, iscrizione alla mensa scolastica e permesso ZTL. Tre procedimenti sono in sviluppo: contributi sociali, accesso agli atti e autorizzazioni per l'occupazione di suolo pubblico. I restanti cinque, necessari a raggiungere i dodici previsti, non sono ancora dettagliati negli appunti disponibili.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primo trimestre sono state presentate 4.200 istanze online, con una riduzione degli accessi allo sportello del 18 per cento. Il tempo medio di evasione delle pratiche online e' di 5,2 giorni contro 8,7 giorni delle pratiche cartacee, pari a circa il 40 per cento in meno. I reclami sono pochi; alcune segnalazioni riguardano difficolta' con SPID e CIE.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le criticita' rilevate. L'integrazione con il protocollo informatico procede piu' lentamente del previsto. Permane la disomogeneita' dei moduli cartacei tra gli uffici. E' necessaria formazione interna. Infine, alcuni cittadini segnalano difficolta' con SPID e CIE, aspetto che incide sull'accessibilita' del servizio.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mette in relazione ciascuna criticita' con il possibile effetto sul progetto e la misura di mitigazione proposta. Le misure derivano direttamente dalle decisioni sottoposte alla Direzione: priorita' ai procedimenti a maggior volume, piano di formazione e supporto assistito presso l'URP. L'uniformazione della modulistica richiede un approfondimento ancora da completare.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Sono tre le decisioni richieste alla Direzione: dare priorita' ai procedimenti con maggior volume di istanze, approvare il piano di formazione interna e valutare l'attivazione del supporto assistito presso l'URP. Le misure trovano copertura nel budget residuo di 38.000 euro.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prevede il completamento dei tre procedimenti in sviluppo e l'avvio delle misure approvate. La scadenza vincolante piu' prossima e' la rendicontazione intermedia del 30 ottobre; l'obiettivo finale resta portare online dodici procedimenti entro dicembre. Titolarita' e date intermedie sono ancora da definire.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B3C6B"/>
          </a:solidFill>
          <a:ln/>
        </p:spPr>
      </p:sp>
      <p:sp>
        <p:nvSpPr>
          <p:cNvPr id="3" name="Shape 1"/>
          <p:cNvSpPr/>
          <p:nvPr/>
        </p:nvSpPr>
        <p:spPr>
          <a:xfrm>
            <a:off x="822960" y="2331720"/>
            <a:ext cx="1280160" cy="45720"/>
          </a:xfrm>
          <a:prstGeom prst="rect">
            <a:avLst/>
          </a:prstGeom>
          <a:solidFill>
            <a:srgbClr val="1D6FB8"/>
          </a:solidFill>
          <a:ln/>
        </p:spPr>
      </p:sp>
      <p:sp>
        <p:nvSpPr>
          <p:cNvPr id="4" name="Text 2"/>
          <p:cNvSpPr>
            <a:spLocks noGrp="1"/>
          </p:cNvSpPr>
          <p:nvPr>
            <p:ph type="title" idx="102" hasCustomPrompt="1"/>
          </p:nvPr>
        </p:nvSpPr>
        <p:spPr>
          <a:xfrm>
            <a:off x="822960" y="1371600"/>
            <a:ext cx="7680960" cy="914400"/>
          </a:xfrm>
          <a:prstGeom prst="rect">
            <a:avLst/>
          </a:prstGeom>
          <a:noFill/>
          <a:ln/>
        </p:spPr>
        <p:txBody>
          <a:bodyPr wrap="square" rtlCol="0"/>
          <a:lstStyle>
            <a:lvl1pPr marL="0" indent="0" algn="l">
              <a:buNone/>
              <a:defRPr lang="en-US" sz="3400" b="1" dirty="0">
                <a:solidFill>
                  <a:srgbClr val="0B3C6B"/>
                </a:solidFill>
                <a:latin typeface="Calibri" pitchFamily="34" charset="0"/>
                <a:ea typeface="Calibri" pitchFamily="34" charset="-122"/>
                <a:cs typeface="Calibri" pitchFamily="34" charset="-120"/>
              </a:defRPr>
            </a:lvl1pPr>
          </a:lstStyle>
          <a:p>
            <a:pPr marL="0" indent="0" algn="l">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B3C6B"/>
          </a:solidFill>
          <a:ln/>
        </p:spPr>
      </p:sp>
      <p:sp>
        <p:nvSpPr>
          <p:cNvPr id="3" name="Shape 1"/>
          <p:cNvSpPr/>
          <p:nvPr/>
        </p:nvSpPr>
        <p:spPr>
          <a:xfrm>
            <a:off x="548640" y="932688"/>
            <a:ext cx="8046720" cy="13716"/>
          </a:xfrm>
          <a:prstGeom prst="rect">
            <a:avLst/>
          </a:prstGeom>
          <a:solidFill>
            <a:srgbClr val="D4D9DE"/>
          </a:solidFill>
          <a:ln/>
        </p:spPr>
      </p:sp>
      <p:sp>
        <p:nvSpPr>
          <p:cNvPr id="4" name="Shape 2"/>
          <p:cNvSpPr/>
          <p:nvPr/>
        </p:nvSpPr>
        <p:spPr>
          <a:xfrm>
            <a:off x="548640" y="4773168"/>
            <a:ext cx="8046720" cy="10973"/>
          </a:xfrm>
          <a:prstGeom prst="rect">
            <a:avLst/>
          </a:prstGeom>
          <a:solidFill>
            <a:srgbClr val="D4D9DE"/>
          </a:solidFill>
          <a:ln/>
        </p:spPr>
      </p:sp>
      <p:sp>
        <p:nvSpPr>
          <p:cNvPr id="5" name="Text 3"/>
          <p:cNvSpPr/>
          <p:nvPr/>
        </p:nvSpPr>
        <p:spPr>
          <a:xfrm>
            <a:off x="548640" y="4828032"/>
            <a:ext cx="6035040" cy="256032"/>
          </a:xfrm>
          <a:prstGeom prst="rect">
            <a:avLst/>
          </a:prstGeom>
          <a:noFill/>
          <a:ln/>
        </p:spPr>
        <p:txBody>
          <a:bodyPr wrap="square" lIns="0" tIns="0" rIns="0" bIns="0" rtlCol="0" anchor="ctr"/>
          <a:lstStyle/>
          <a:p>
            <a:pPr marL="0" indent="0">
              <a:buNone/>
            </a:pPr>
            <a:r>
              <a:rPr lang="en-US" sz="900" dirty="0">
                <a:solidFill>
                  <a:srgbClr val="8A9099"/>
                </a:solidFill>
                <a:latin typeface="Calibri" pitchFamily="34" charset="0"/>
                <a:ea typeface="Calibri" pitchFamily="34" charset="-122"/>
                <a:cs typeface="Calibri" pitchFamily="34" charset="-120"/>
              </a:rPr>
              <a:t>Direzione generale — Progetto digitalizzazione istanze online</a:t>
            </a:r>
            <a:endParaRPr lang="en-US" sz="900" dirty="0"/>
          </a:p>
        </p:txBody>
      </p:sp>
      <p:sp>
        <p:nvSpPr>
          <p:cNvPr id="6" name="Text 4"/>
          <p:cNvSpPr>
            <a:spLocks noGrp="1"/>
          </p:cNvSpPr>
          <p:nvPr>
            <p:ph type="title" idx="104" hasCustomPrompt="1"/>
          </p:nvPr>
        </p:nvSpPr>
        <p:spPr>
          <a:xfrm>
            <a:off x="548640" y="384048"/>
            <a:ext cx="8046720" cy="502920"/>
          </a:xfrm>
          <a:prstGeom prst="rect">
            <a:avLst/>
          </a:prstGeom>
          <a:noFill/>
          <a:ln/>
        </p:spPr>
        <p:txBody>
          <a:bodyPr wrap="square" rtlCol="0"/>
          <a:lstStyle>
            <a:lvl1pPr marL="0" indent="0" algn="l">
              <a:buNone/>
              <a:defRPr lang="en-US" sz="2200" b="1" dirty="0">
                <a:solidFill>
                  <a:srgbClr val="0B3C6B"/>
                </a:solidFill>
                <a:latin typeface="Calibri" pitchFamily="34" charset="0"/>
                <a:ea typeface="Calibri" pitchFamily="34" charset="-122"/>
                <a:cs typeface="Calibri" pitchFamily="34" charset="-120"/>
              </a:defRPr>
            </a:lvl1pPr>
          </a:lstStyle>
          <a:p>
            <a:pPr marL="0" indent="0" algn="l">
              <a:buNone/>
            </a:pPr>
            <a:endParaRPr lang="en-US" sz="22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1612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1371600"/>
            <a:ext cx="7680960" cy="914400"/>
          </a:xfrm>
          <a:prstGeom prst="rect">
            <a:avLst/>
          </a:prstGeom>
          <a:noFill/>
          <a:ln/>
        </p:spPr>
        <p:txBody>
          <a:bodyPr wrap="square" lIns="0" tIns="0" rIns="0" bIns="0" rtlCol="0" anchor="b"/>
          <a:lstStyle/>
          <a:p>
            <a:pPr marL="0" indent="0" algn="l">
              <a:buNone/>
            </a:pPr>
            <a:r>
              <a:rPr lang="en-US" sz="3400" b="1" dirty="0">
                <a:solidFill>
                  <a:srgbClr val="0B3C6B"/>
                </a:solidFill>
                <a:latin typeface="Calibri" pitchFamily="34" charset="0"/>
                <a:ea typeface="Calibri" pitchFamily="34" charset="-122"/>
                <a:cs typeface="Calibri" pitchFamily="34" charset="-120"/>
              </a:rPr>
              <a:t>Digitalizzazione delle istanze online</a:t>
            </a:r>
            <a:endParaRPr lang="en-US" sz="3400" dirty="0"/>
          </a:p>
        </p:txBody>
      </p:sp>
      <p:sp>
        <p:nvSpPr>
          <p:cNvPr id="3" name="Text 1"/>
          <p:cNvSpPr/>
          <p:nvPr/>
        </p:nvSpPr>
        <p:spPr>
          <a:xfrm>
            <a:off x="822960" y="2514600"/>
            <a:ext cx="7132320" cy="1005840"/>
          </a:xfrm>
          <a:prstGeom prst="rect">
            <a:avLst/>
          </a:prstGeom>
          <a:noFill/>
          <a:ln/>
        </p:spPr>
        <p:txBody>
          <a:bodyPr wrap="square" lIns="0" tIns="0" rIns="0" bIns="0" rtlCol="0" anchor="ctr"/>
          <a:lstStyle/>
          <a:p>
            <a:pPr marL="0" indent="0">
              <a:buNone/>
            </a:pPr>
            <a:r>
              <a:rPr lang="en-US" sz="1600" dirty="0">
                <a:solidFill>
                  <a:srgbClr val="4A4F55"/>
                </a:solidFill>
                <a:latin typeface="Calibri" pitchFamily="34" charset="0"/>
                <a:ea typeface="Calibri" pitchFamily="34" charset="-122"/>
                <a:cs typeface="Calibri" pitchFamily="34" charset="-120"/>
              </a:rPr>
              <a:t>Stato di avanzamento del progetto</a:t>
            </a:r>
            <a:endParaRPr lang="en-US" sz="1600" dirty="0"/>
          </a:p>
          <a:p>
            <a:pPr marL="0" indent="0">
              <a:buNone/>
            </a:pPr>
            <a:r>
              <a:rPr lang="en-US" sz="1200" dirty="0">
                <a:solidFill>
                  <a:srgbClr val="8A9099"/>
                </a:solidFill>
                <a:latin typeface="Calibri" pitchFamily="34" charset="0"/>
                <a:ea typeface="Calibri" pitchFamily="34" charset="-122"/>
                <a:cs typeface="Calibri" pitchFamily="34" charset="-120"/>
              </a:rPr>
              <a:t>Obiettivo della presentazione: informare la Direzione generale sull'avanzamento e acquisire le decisioni necessarie per il secondo semestre</a:t>
            </a:r>
            <a:endParaRPr lang="en-US" sz="1600" dirty="0"/>
          </a:p>
        </p:txBody>
      </p:sp>
      <p:sp>
        <p:nvSpPr>
          <p:cNvPr id="4" name="Text 2"/>
          <p:cNvSpPr/>
          <p:nvPr/>
        </p:nvSpPr>
        <p:spPr>
          <a:xfrm>
            <a:off x="822960" y="3840480"/>
            <a:ext cx="7132320" cy="640080"/>
          </a:xfrm>
          <a:prstGeom prst="rect">
            <a:avLst/>
          </a:prstGeom>
          <a:noFill/>
          <a:ln/>
        </p:spPr>
        <p:txBody>
          <a:bodyPr wrap="square" lIns="0" tIns="0" rIns="0" bIns="0" rtlCol="0" anchor="ctr"/>
          <a:lstStyle/>
          <a:p>
            <a:pPr marL="0" indent="0">
              <a:buNone/>
            </a:pPr>
            <a:r>
              <a:rPr lang="en-US" sz="1100" b="1" dirty="0">
                <a:solidFill>
                  <a:srgbClr val="1D6FB8"/>
                </a:solidFill>
                <a:latin typeface="Calibri" pitchFamily="34" charset="0"/>
                <a:ea typeface="Calibri" pitchFamily="34" charset="-122"/>
                <a:cs typeface="Calibri" pitchFamily="34" charset="-120"/>
              </a:rPr>
              <a:t>Presentazione alla Direzione generale</a:t>
            </a:r>
            <a:endParaRPr lang="en-US" sz="1100" dirty="0"/>
          </a:p>
          <a:p>
            <a:pPr marL="0" indent="0">
              <a:buNone/>
            </a:pPr>
            <a:r>
              <a:rPr lang="en-US" sz="1000" dirty="0">
                <a:solidFill>
                  <a:srgbClr val="8A9099"/>
                </a:solidFill>
                <a:latin typeface="Calibri" pitchFamily="34" charset="0"/>
                <a:ea typeface="Calibri" pitchFamily="34" charset="-122"/>
                <a:cs typeface="Calibri" pitchFamily="34" charset="-120"/>
              </a:rPr>
              <a:t>Relatore: [da completare]   |   Data: [da completare]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a:spLocks noGrp="1"/>
          </p:cNvSpPr>
          <p:nvPr>
            <p:ph type="title" idx="104" hasCustomPrompt="1"/>
          </p:nvPr>
        </p:nvSpPr>
        <p:spPr>
          <a:xfrm>
            <a:off x="548640" y="384048"/>
            <a:ext cx="8046720" cy="502920"/>
          </a:xfrm>
          <a:prstGeom prst="rect">
            <a:avLst/>
          </a:prstGeom>
          <a:noFill/>
          <a:ln/>
        </p:spPr>
        <p:txBody>
          <a:bodyPr wrap="square" lIns="0" tIns="0" rIns="0" bIns="0" rtlCol="0" anchor="ctr"/>
          <a:lstStyle/>
          <a:p>
            <a:pPr marL="0" indent="0" algn="l">
              <a:buNone/>
            </a:pPr>
            <a:r>
              <a:rPr lang="en-US" sz="2200" b="1" dirty="0">
                <a:solidFill>
                  <a:srgbClr val="0B3C6B"/>
                </a:solidFill>
                <a:latin typeface="Calibri" pitchFamily="34" charset="0"/>
                <a:ea typeface="Calibri" pitchFamily="34" charset="-122"/>
                <a:cs typeface="Calibri" pitchFamily="34" charset="-120"/>
              </a:rPr>
              <a:t>Contesto e finalità del progetto</a:t>
            </a:r>
            <a:endParaRPr lang="en-US" sz="2200" dirty="0"/>
          </a:p>
        </p:txBody>
      </p:sp>
      <p:sp>
        <p:nvSpPr>
          <p:cNvPr id="3" name="Riquadro dato 1">
            <a:extLst>
              <a:ext uri="{C183D7F6-B498-43B3-948B-1728B52AA6E4}">
                <adec:decorative xmlns:adec="http://schemas.microsoft.com/office/drawing/2017/decorative" val="1"/>
              </a:ext>
            </a:extLst>
          </p:cNvPr>
          <p:cNvSpPr/>
          <p:nvPr/>
        </p:nvSpPr>
        <p:spPr>
          <a:xfrm>
            <a:off x="548640" y="1234440"/>
            <a:ext cx="2514600" cy="1600200"/>
          </a:xfrm>
          <a:prstGeom prst="rect">
            <a:avLst/>
          </a:prstGeom>
          <a:solidFill>
            <a:srgbClr val="F4F7FA"/>
          </a:solidFill>
          <a:ln/>
        </p:spPr>
        <p:txBody>
          <a:bodyPr/>
          <a:lstStyle/>
          <a:p>
            <a:endParaRPr lang="it-IT"/>
          </a:p>
        </p:txBody>
      </p:sp>
      <p:sp>
        <p:nvSpPr>
          <p:cNvPr id="4" name="Barra accento 1">
            <a:extLst>
              <a:ext uri="{C183D7F6-B498-43B3-948B-1728B52AA6E4}">
                <adec:decorative xmlns:adec="http://schemas.microsoft.com/office/drawing/2017/decorative" val="1"/>
              </a:ext>
            </a:extLst>
          </p:cNvPr>
          <p:cNvSpPr/>
          <p:nvPr/>
        </p:nvSpPr>
        <p:spPr>
          <a:xfrm>
            <a:off x="548640" y="1234440"/>
            <a:ext cx="64008" cy="1600200"/>
          </a:xfrm>
          <a:prstGeom prst="rect">
            <a:avLst/>
          </a:prstGeom>
          <a:solidFill>
            <a:srgbClr val="1D6FB8"/>
          </a:solidFill>
          <a:ln/>
        </p:spPr>
        <p:txBody>
          <a:bodyPr/>
          <a:lstStyle/>
          <a:p>
            <a:endParaRPr lang="it-IT"/>
          </a:p>
        </p:txBody>
      </p:sp>
      <p:sp>
        <p:nvSpPr>
          <p:cNvPr id="5" name="Text 3"/>
          <p:cNvSpPr/>
          <p:nvPr/>
        </p:nvSpPr>
        <p:spPr>
          <a:xfrm>
            <a:off x="777240" y="1371600"/>
            <a:ext cx="2148840" cy="1371600"/>
          </a:xfrm>
          <a:prstGeom prst="rect">
            <a:avLst/>
          </a:prstGeom>
          <a:noFill/>
          <a:ln/>
        </p:spPr>
        <p:txBody>
          <a:bodyPr wrap="square" lIns="0" tIns="0" rIns="0" bIns="0" rtlCol="0" anchor="t"/>
          <a:lstStyle/>
          <a:p>
            <a:pPr marL="0" indent="0">
              <a:buNone/>
            </a:pPr>
            <a:r>
              <a:rPr lang="en-US" sz="900" kern="0" spc="150" dirty="0">
                <a:solidFill>
                  <a:srgbClr val="8A9099"/>
                </a:solidFill>
                <a:latin typeface="Calibri" pitchFamily="34" charset="0"/>
                <a:ea typeface="Calibri" pitchFamily="34" charset="-122"/>
                <a:cs typeface="Calibri" pitchFamily="34" charset="-120"/>
              </a:rPr>
              <a:t>AVVIO</a:t>
            </a:r>
            <a:endParaRPr lang="en-US" sz="900" dirty="0"/>
          </a:p>
          <a:p>
            <a:pPr marL="0" indent="0">
              <a:buNone/>
            </a:pPr>
            <a:r>
              <a:rPr lang="en-US" sz="2200" b="1" dirty="0">
                <a:solidFill>
                  <a:srgbClr val="0B3C6B"/>
                </a:solidFill>
                <a:latin typeface="Calibri" pitchFamily="34" charset="0"/>
                <a:ea typeface="Calibri" pitchFamily="34" charset="-122"/>
                <a:cs typeface="Calibri" pitchFamily="34" charset="-120"/>
              </a:rPr>
              <a:t>Marzo</a:t>
            </a:r>
            <a:endParaRPr lang="en-US" sz="900" dirty="0"/>
          </a:p>
          <a:p>
            <a:pPr marL="0" indent="0">
              <a:buNone/>
            </a:pPr>
            <a:r>
              <a:rPr lang="en-US" sz="1000" dirty="0">
                <a:solidFill>
                  <a:srgbClr val="4A4F55"/>
                </a:solidFill>
                <a:latin typeface="Calibri" pitchFamily="34" charset="0"/>
                <a:ea typeface="Calibri" pitchFamily="34" charset="-122"/>
                <a:cs typeface="Calibri" pitchFamily="34" charset="-120"/>
              </a:rPr>
              <a:t>Progetto avviato a marzo dell'anno in corso.</a:t>
            </a:r>
            <a:endParaRPr lang="en-US" sz="900" dirty="0"/>
          </a:p>
        </p:txBody>
      </p:sp>
      <p:sp>
        <p:nvSpPr>
          <p:cNvPr id="6" name="Riquadro dato 2">
            <a:extLst>
              <a:ext uri="{C183D7F6-B498-43B3-948B-1728B52AA6E4}">
                <adec:decorative xmlns:adec="http://schemas.microsoft.com/office/drawing/2017/decorative" val="1"/>
              </a:ext>
            </a:extLst>
          </p:cNvPr>
          <p:cNvSpPr/>
          <p:nvPr/>
        </p:nvSpPr>
        <p:spPr>
          <a:xfrm>
            <a:off x="3291840" y="1234440"/>
            <a:ext cx="2514600" cy="1600200"/>
          </a:xfrm>
          <a:prstGeom prst="rect">
            <a:avLst/>
          </a:prstGeom>
          <a:solidFill>
            <a:srgbClr val="F4F7FA"/>
          </a:solidFill>
          <a:ln/>
        </p:spPr>
        <p:txBody>
          <a:bodyPr/>
          <a:lstStyle/>
          <a:p>
            <a:endParaRPr lang="it-IT"/>
          </a:p>
        </p:txBody>
      </p:sp>
      <p:sp>
        <p:nvSpPr>
          <p:cNvPr id="7" name="Barra accento 2">
            <a:extLst>
              <a:ext uri="{C183D7F6-B498-43B3-948B-1728B52AA6E4}">
                <adec:decorative xmlns:adec="http://schemas.microsoft.com/office/drawing/2017/decorative" val="1"/>
              </a:ext>
            </a:extLst>
          </p:cNvPr>
          <p:cNvSpPr/>
          <p:nvPr/>
        </p:nvSpPr>
        <p:spPr>
          <a:xfrm>
            <a:off x="3291840" y="1234440"/>
            <a:ext cx="64008" cy="1600200"/>
          </a:xfrm>
          <a:prstGeom prst="rect">
            <a:avLst/>
          </a:prstGeom>
          <a:solidFill>
            <a:srgbClr val="1D6FB8"/>
          </a:solidFill>
          <a:ln/>
        </p:spPr>
        <p:txBody>
          <a:bodyPr/>
          <a:lstStyle/>
          <a:p>
            <a:endParaRPr lang="it-IT"/>
          </a:p>
        </p:txBody>
      </p:sp>
      <p:sp>
        <p:nvSpPr>
          <p:cNvPr id="8" name="Text 6"/>
          <p:cNvSpPr/>
          <p:nvPr/>
        </p:nvSpPr>
        <p:spPr>
          <a:xfrm>
            <a:off x="3520440" y="1371600"/>
            <a:ext cx="2148840" cy="1371600"/>
          </a:xfrm>
          <a:prstGeom prst="rect">
            <a:avLst/>
          </a:prstGeom>
          <a:noFill/>
          <a:ln/>
        </p:spPr>
        <p:txBody>
          <a:bodyPr wrap="square" lIns="0" tIns="0" rIns="0" bIns="0" rtlCol="0" anchor="t"/>
          <a:lstStyle/>
          <a:p>
            <a:pPr marL="0" indent="0">
              <a:buNone/>
            </a:pPr>
            <a:r>
              <a:rPr lang="en-US" sz="900" kern="0" spc="150" dirty="0">
                <a:solidFill>
                  <a:srgbClr val="8A9099"/>
                </a:solidFill>
                <a:latin typeface="Calibri" pitchFamily="34" charset="0"/>
                <a:ea typeface="Calibri" pitchFamily="34" charset="-122"/>
                <a:cs typeface="Calibri" pitchFamily="34" charset="-120"/>
              </a:rPr>
              <a:t>OBIETTIVO</a:t>
            </a:r>
            <a:endParaRPr lang="en-US" sz="900" dirty="0"/>
          </a:p>
          <a:p>
            <a:pPr marL="0" indent="0">
              <a:buNone/>
            </a:pPr>
            <a:r>
              <a:rPr lang="en-US" sz="2200" b="1" dirty="0">
                <a:solidFill>
                  <a:srgbClr val="0B3C6B"/>
                </a:solidFill>
                <a:latin typeface="Calibri" pitchFamily="34" charset="0"/>
                <a:ea typeface="Calibri" pitchFamily="34" charset="-122"/>
                <a:cs typeface="Calibri" pitchFamily="34" charset="-120"/>
              </a:rPr>
              <a:t>12 procedimenti</a:t>
            </a:r>
            <a:endParaRPr lang="en-US" sz="900" dirty="0"/>
          </a:p>
          <a:p>
            <a:pPr marL="0" indent="0">
              <a:buNone/>
            </a:pPr>
            <a:r>
              <a:rPr lang="en-US" sz="1000" dirty="0">
                <a:solidFill>
                  <a:srgbClr val="4A4F55"/>
                </a:solidFill>
                <a:latin typeface="Calibri" pitchFamily="34" charset="0"/>
                <a:ea typeface="Calibri" pitchFamily="34" charset="-122"/>
                <a:cs typeface="Calibri" pitchFamily="34" charset="-120"/>
              </a:rPr>
              <a:t>Portare online 12 procedimenti amministrativi entro dicembre.</a:t>
            </a:r>
            <a:endParaRPr lang="en-US" sz="900" dirty="0"/>
          </a:p>
        </p:txBody>
      </p:sp>
      <p:sp>
        <p:nvSpPr>
          <p:cNvPr id="9" name="Riquadro dato 3">
            <a:extLst>
              <a:ext uri="{C183D7F6-B498-43B3-948B-1728B52AA6E4}">
                <adec:decorative xmlns:adec="http://schemas.microsoft.com/office/drawing/2017/decorative" val="1"/>
              </a:ext>
            </a:extLst>
          </p:cNvPr>
          <p:cNvSpPr/>
          <p:nvPr/>
        </p:nvSpPr>
        <p:spPr>
          <a:xfrm>
            <a:off x="6035040" y="1234440"/>
            <a:ext cx="2514600" cy="1600200"/>
          </a:xfrm>
          <a:prstGeom prst="rect">
            <a:avLst/>
          </a:prstGeom>
          <a:solidFill>
            <a:srgbClr val="F4F7FA"/>
          </a:solidFill>
          <a:ln/>
        </p:spPr>
        <p:txBody>
          <a:bodyPr/>
          <a:lstStyle/>
          <a:p>
            <a:endParaRPr lang="it-IT"/>
          </a:p>
        </p:txBody>
      </p:sp>
      <p:sp>
        <p:nvSpPr>
          <p:cNvPr id="10" name="Barra accento 3">
            <a:extLst>
              <a:ext uri="{C183D7F6-B498-43B3-948B-1728B52AA6E4}">
                <adec:decorative xmlns:adec="http://schemas.microsoft.com/office/drawing/2017/decorative" val="1"/>
              </a:ext>
            </a:extLst>
          </p:cNvPr>
          <p:cNvSpPr/>
          <p:nvPr/>
        </p:nvSpPr>
        <p:spPr>
          <a:xfrm>
            <a:off x="6035040" y="1234440"/>
            <a:ext cx="64008" cy="1600200"/>
          </a:xfrm>
          <a:prstGeom prst="rect">
            <a:avLst/>
          </a:prstGeom>
          <a:solidFill>
            <a:srgbClr val="1D6FB8"/>
          </a:solidFill>
          <a:ln/>
        </p:spPr>
        <p:txBody>
          <a:bodyPr/>
          <a:lstStyle/>
          <a:p>
            <a:endParaRPr lang="it-IT"/>
          </a:p>
        </p:txBody>
      </p:sp>
      <p:sp>
        <p:nvSpPr>
          <p:cNvPr id="11" name="Text 9"/>
          <p:cNvSpPr/>
          <p:nvPr/>
        </p:nvSpPr>
        <p:spPr>
          <a:xfrm>
            <a:off x="6263640" y="1371600"/>
            <a:ext cx="2148840" cy="1371600"/>
          </a:xfrm>
          <a:prstGeom prst="rect">
            <a:avLst/>
          </a:prstGeom>
          <a:noFill/>
          <a:ln/>
        </p:spPr>
        <p:txBody>
          <a:bodyPr wrap="square" lIns="0" tIns="0" rIns="0" bIns="0" rtlCol="0" anchor="t"/>
          <a:lstStyle/>
          <a:p>
            <a:pPr marL="0" indent="0">
              <a:buNone/>
            </a:pPr>
            <a:r>
              <a:rPr lang="en-US" sz="900" kern="0" spc="150" dirty="0">
                <a:solidFill>
                  <a:srgbClr val="8A9099"/>
                </a:solidFill>
                <a:latin typeface="Calibri" pitchFamily="34" charset="0"/>
                <a:ea typeface="Calibri" pitchFamily="34" charset="-122"/>
                <a:cs typeface="Calibri" pitchFamily="34" charset="-120"/>
              </a:rPr>
              <a:t>BUDGET RESIDUO</a:t>
            </a:r>
            <a:endParaRPr lang="en-US" sz="900" dirty="0"/>
          </a:p>
          <a:p>
            <a:pPr marL="0" indent="0">
              <a:buNone/>
            </a:pPr>
            <a:r>
              <a:rPr lang="en-US" sz="2200" b="1" dirty="0">
                <a:solidFill>
                  <a:srgbClr val="0B3C6B"/>
                </a:solidFill>
                <a:latin typeface="Calibri" pitchFamily="34" charset="0"/>
                <a:ea typeface="Calibri" pitchFamily="34" charset="-122"/>
                <a:cs typeface="Calibri" pitchFamily="34" charset="-120"/>
              </a:rPr>
              <a:t>38.000 €</a:t>
            </a:r>
            <a:endParaRPr lang="en-US" sz="900" dirty="0"/>
          </a:p>
          <a:p>
            <a:pPr marL="0" indent="0">
              <a:buNone/>
            </a:pPr>
            <a:r>
              <a:rPr lang="en-US" sz="1000" dirty="0">
                <a:solidFill>
                  <a:srgbClr val="4A4F55"/>
                </a:solidFill>
                <a:latin typeface="Calibri" pitchFamily="34" charset="0"/>
                <a:ea typeface="Calibri" pitchFamily="34" charset="-122"/>
                <a:cs typeface="Calibri" pitchFamily="34" charset="-120"/>
              </a:rPr>
              <a:t>Risorse ancora disponibili per il completamento.</a:t>
            </a:r>
            <a:endParaRPr lang="en-US" sz="900" dirty="0"/>
          </a:p>
        </p:txBody>
      </p:sp>
      <p:sp>
        <p:nvSpPr>
          <p:cNvPr id="12" name="Text 10"/>
          <p:cNvSpPr/>
          <p:nvPr/>
        </p:nvSpPr>
        <p:spPr>
          <a:xfrm>
            <a:off x="548640" y="3063240"/>
            <a:ext cx="8046720" cy="1600200"/>
          </a:xfrm>
          <a:prstGeom prst="rect">
            <a:avLst/>
          </a:prstGeom>
          <a:noFill/>
          <a:ln/>
        </p:spPr>
        <p:txBody>
          <a:bodyPr wrap="square" lIns="0" tIns="0" rIns="0" bIns="0" rtlCol="0" anchor="ctr"/>
          <a:lstStyle/>
          <a:p>
            <a:pPr marL="0" indent="0">
              <a:spcAft>
                <a:spcPts val="500"/>
              </a:spcAft>
              <a:buNone/>
            </a:pPr>
            <a:r>
              <a:rPr lang="en-US" sz="1200" b="1" dirty="0">
                <a:solidFill>
                  <a:srgbClr val="0B3C6B"/>
                </a:solidFill>
                <a:latin typeface="Calibri" pitchFamily="34" charset="0"/>
                <a:ea typeface="Calibri" pitchFamily="34" charset="-122"/>
                <a:cs typeface="Calibri" pitchFamily="34" charset="-120"/>
              </a:rPr>
              <a:t>Finalità</a:t>
            </a:r>
            <a:endParaRPr lang="en-US" sz="1200" dirty="0"/>
          </a:p>
          <a:p>
            <a:pPr marL="152400" indent="-152400">
              <a:spcAft>
                <a:spcPts val="500"/>
              </a:spcAft>
              <a:buSzPct val="100000"/>
              <a:buChar char="•"/>
            </a:pPr>
            <a:r>
              <a:rPr lang="en-US" sz="1200" dirty="0">
                <a:solidFill>
                  <a:srgbClr val="4A4F55"/>
                </a:solidFill>
                <a:latin typeface="Calibri" pitchFamily="34" charset="0"/>
                <a:ea typeface="Calibri" pitchFamily="34" charset="-122"/>
                <a:cs typeface="Calibri" pitchFamily="34" charset="-120"/>
              </a:rPr>
              <a:t>Ampliare l'accesso online ai procedimenti amministrativi</a:t>
            </a:r>
            <a:endParaRPr lang="en-US" sz="1200" dirty="0"/>
          </a:p>
          <a:p>
            <a:pPr marL="152400" indent="-152400">
              <a:spcAft>
                <a:spcPts val="500"/>
              </a:spcAft>
              <a:buSzPct val="100000"/>
              <a:buChar char="•"/>
            </a:pPr>
            <a:r>
              <a:rPr lang="en-US" sz="1200" dirty="0">
                <a:solidFill>
                  <a:srgbClr val="4A4F55"/>
                </a:solidFill>
                <a:latin typeface="Calibri" pitchFamily="34" charset="0"/>
                <a:ea typeface="Calibri" pitchFamily="34" charset="-122"/>
                <a:cs typeface="Calibri" pitchFamily="34" charset="-120"/>
              </a:rPr>
              <a:t>Ridurre gli accessi fisici allo sportello</a:t>
            </a:r>
            <a:endParaRPr lang="en-US" sz="1200" dirty="0"/>
          </a:p>
          <a:p>
            <a:pPr marL="152400" indent="-152400">
              <a:spcAft>
                <a:spcPts val="500"/>
              </a:spcAft>
              <a:buSzPct val="100000"/>
              <a:buChar char="•"/>
            </a:pPr>
            <a:r>
              <a:rPr lang="en-US" sz="1200" dirty="0">
                <a:solidFill>
                  <a:srgbClr val="4A4F55"/>
                </a:solidFill>
                <a:latin typeface="Calibri" pitchFamily="34" charset="0"/>
                <a:ea typeface="Calibri" pitchFamily="34" charset="-122"/>
                <a:cs typeface="Calibri" pitchFamily="34" charset="-120"/>
              </a:rPr>
              <a:t>Ridurre i tempi medi di evasione delle pratiche</a:t>
            </a:r>
            <a:endParaRPr lang="en-US" sz="1200" dirty="0"/>
          </a:p>
          <a:p>
            <a:pPr marL="152400" indent="-152400">
              <a:spcAft>
                <a:spcPts val="500"/>
              </a:spcAft>
              <a:buSzPct val="100000"/>
              <a:buChar char="•"/>
            </a:pPr>
            <a:r>
              <a:rPr lang="en-US" sz="1200" dirty="0">
                <a:solidFill>
                  <a:srgbClr val="4A4F55"/>
                </a:solidFill>
                <a:latin typeface="Calibri" pitchFamily="34" charset="0"/>
                <a:ea typeface="Calibri" pitchFamily="34" charset="-122"/>
                <a:cs typeface="Calibri" pitchFamily="34" charset="-120"/>
              </a:rPr>
              <a:t>Scadenza di rendicontazione intermedia: 30 ottobre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a:spLocks noGrp="1"/>
          </p:cNvSpPr>
          <p:nvPr>
            <p:ph type="title" idx="104" hasCustomPrompt="1"/>
          </p:nvPr>
        </p:nvSpPr>
        <p:spPr>
          <a:xfrm>
            <a:off x="548640" y="384048"/>
            <a:ext cx="8046720" cy="502920"/>
          </a:xfrm>
          <a:prstGeom prst="rect">
            <a:avLst/>
          </a:prstGeom>
          <a:noFill/>
          <a:ln/>
        </p:spPr>
        <p:txBody>
          <a:bodyPr wrap="square" lIns="0" tIns="0" rIns="0" bIns="0" rtlCol="0" anchor="ctr"/>
          <a:lstStyle/>
          <a:p>
            <a:pPr marL="0" indent="0" algn="l">
              <a:buNone/>
            </a:pPr>
            <a:r>
              <a:rPr lang="en-US" sz="2200" b="1" dirty="0">
                <a:solidFill>
                  <a:srgbClr val="0B3C6B"/>
                </a:solidFill>
                <a:latin typeface="Calibri" pitchFamily="34" charset="0"/>
                <a:ea typeface="Calibri" pitchFamily="34" charset="-122"/>
                <a:cs typeface="Calibri" pitchFamily="34" charset="-120"/>
              </a:rPr>
              <a:t>Stato di avanzamento</a:t>
            </a:r>
            <a:endParaRPr lang="en-US" sz="2200" dirty="0"/>
          </a:p>
        </p:txBody>
      </p:sp>
      <p:sp>
        <p:nvSpPr>
          <p:cNvPr id="3" name="Text 1"/>
          <p:cNvSpPr/>
          <p:nvPr/>
        </p:nvSpPr>
        <p:spPr>
          <a:xfrm>
            <a:off x="548640" y="1051560"/>
            <a:ext cx="8046720" cy="274320"/>
          </a:xfrm>
          <a:prstGeom prst="rect">
            <a:avLst/>
          </a:prstGeom>
          <a:noFill/>
          <a:ln/>
        </p:spPr>
        <p:txBody>
          <a:bodyPr wrap="square" lIns="0" tIns="0" rIns="0" bIns="0" rtlCol="0" anchor="ctr"/>
          <a:lstStyle/>
          <a:p>
            <a:pPr marL="0" indent="0">
              <a:buNone/>
            </a:pPr>
            <a:r>
              <a:rPr lang="en-US" sz="1200" i="1" dirty="0">
                <a:solidFill>
                  <a:srgbClr val="8A9099"/>
                </a:solidFill>
                <a:latin typeface="Calibri" pitchFamily="34" charset="0"/>
                <a:ea typeface="Calibri" pitchFamily="34" charset="-122"/>
                <a:cs typeface="Calibri" pitchFamily="34" charset="-120"/>
              </a:rPr>
              <a:t>4 procedimenti online su 12 previsti; 3 in fase di sviluppo; 5 non ancora avviati [da completare]</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8046720" cy="2194560"/>
        </p:xfrm>
        <a:graphic>
          <a:graphicData uri="http://schemas.openxmlformats.org/drawingml/2006/table">
            <a:tbl>
              <a:tblPr/>
              <a:tblGrid>
                <a:gridCol w="18288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Stato</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0B3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Procedimenti</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0B3C6B"/>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0B3C6B"/>
                    </a:solidFill>
                  </a:tcPr>
                </a:tc>
                <a:extLst>
                  <a:ext uri="{0D108BD9-81ED-4DB2-BD59-A6C34878D82A}">
                    <a16:rowId xmlns:a16="http://schemas.microsoft.com/office/drawing/2014/main" val="10000"/>
                  </a:ext>
                </a:extLst>
              </a:tr>
              <a:tr h="685800">
                <a:tc>
                  <a:txBody>
                    <a:bodyPr/>
                    <a:lstStyle/>
                    <a:p>
                      <a:pPr marL="0" indent="0">
                        <a:buNone/>
                      </a:pPr>
                      <a:r>
                        <a:rPr lang="en-US" sz="1100" b="1" dirty="0">
                          <a:solidFill>
                            <a:srgbClr val="0B3C6B"/>
                          </a:solidFill>
                          <a:latin typeface="Calibri" pitchFamily="34" charset="0"/>
                          <a:ea typeface="Calibri" pitchFamily="34" charset="-122"/>
                          <a:cs typeface="Calibri" pitchFamily="34" charset="-120"/>
                        </a:rPr>
                        <a:t>Disponibili online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Certificati anagrafici; cambio residenza; iscrizione mensa scolastica; permesso ZTL</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F55"/>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100" b="1" dirty="0">
                          <a:solidFill>
                            <a:srgbClr val="0B3C6B"/>
                          </a:solidFill>
                          <a:latin typeface="Calibri" pitchFamily="34" charset="0"/>
                          <a:ea typeface="Calibri" pitchFamily="34" charset="-122"/>
                          <a:cs typeface="Calibri" pitchFamily="34" charset="-120"/>
                        </a:rPr>
                        <a:t>In sviluppo</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Contributi sociali; accesso atti; autorizzazioni occupazione suolo pubblico</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F55"/>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00" b="1" dirty="0">
                          <a:solidFill>
                            <a:srgbClr val="0B3C6B"/>
                          </a:solidFill>
                          <a:latin typeface="Calibri" pitchFamily="34" charset="0"/>
                          <a:ea typeface="Calibri" pitchFamily="34" charset="-122"/>
                          <a:cs typeface="Calibri" pitchFamily="34" charset="-120"/>
                        </a:rPr>
                        <a:t>Da avviare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[da completare]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F55"/>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Barra avanzamento sfondo">
            <a:extLst>
              <a:ext uri="{C183D7F6-B498-43B3-948B-1728B52AA6E4}">
                <adec:decorative xmlns:adec="http://schemas.microsoft.com/office/drawing/2017/decorative" val="1"/>
              </a:ext>
            </a:extLst>
          </p:cNvPr>
          <p:cNvSpPr/>
          <p:nvPr/>
        </p:nvSpPr>
        <p:spPr>
          <a:xfrm>
            <a:off x="548640" y="3977640"/>
            <a:ext cx="8046720" cy="256032"/>
          </a:xfrm>
          <a:prstGeom prst="rect">
            <a:avLst/>
          </a:prstGeom>
          <a:solidFill>
            <a:srgbClr val="EDF1F5"/>
          </a:solidFill>
          <a:ln/>
        </p:spPr>
        <p:txBody>
          <a:bodyPr/>
          <a:lstStyle/>
          <a:p>
            <a:endParaRPr lang="it-IT"/>
          </a:p>
        </p:txBody>
      </p:sp>
      <p:sp>
        <p:nvSpPr>
          <p:cNvPr id="6" name="Barra avanzamento completata">
            <a:extLst>
              <a:ext uri="{C183D7F6-B498-43B3-948B-1728B52AA6E4}">
                <adec:decorative xmlns:adec="http://schemas.microsoft.com/office/drawing/2017/decorative" val="1"/>
              </a:ext>
            </a:extLst>
          </p:cNvPr>
          <p:cNvSpPr/>
          <p:nvPr/>
        </p:nvSpPr>
        <p:spPr>
          <a:xfrm>
            <a:off x="548640" y="3977640"/>
            <a:ext cx="2682240" cy="256032"/>
          </a:xfrm>
          <a:prstGeom prst="rect">
            <a:avLst/>
          </a:prstGeom>
          <a:solidFill>
            <a:srgbClr val="1D6FB8"/>
          </a:solidFill>
          <a:ln/>
        </p:spPr>
        <p:txBody>
          <a:bodyPr/>
          <a:lstStyle/>
          <a:p>
            <a:endParaRPr lang="it-IT"/>
          </a:p>
        </p:txBody>
      </p:sp>
      <p:sp>
        <p:nvSpPr>
          <p:cNvPr id="7" name="Text 4"/>
          <p:cNvSpPr/>
          <p:nvPr/>
        </p:nvSpPr>
        <p:spPr>
          <a:xfrm>
            <a:off x="548640" y="4315968"/>
            <a:ext cx="8046720" cy="274320"/>
          </a:xfrm>
          <a:prstGeom prst="rect">
            <a:avLst/>
          </a:prstGeom>
          <a:noFill/>
          <a:ln/>
        </p:spPr>
        <p:txBody>
          <a:bodyPr wrap="square" lIns="0" tIns="0" rIns="0" bIns="0" rtlCol="0" anchor="ctr"/>
          <a:lstStyle/>
          <a:p>
            <a:pPr marL="0" indent="0">
              <a:buNone/>
            </a:pPr>
            <a:r>
              <a:rPr lang="en-US" sz="1100" dirty="0">
                <a:solidFill>
                  <a:srgbClr val="4A4F55"/>
                </a:solidFill>
                <a:latin typeface="Calibri" pitchFamily="34" charset="0"/>
                <a:ea typeface="Calibri" pitchFamily="34" charset="-122"/>
                <a:cs typeface="Calibri" pitchFamily="34" charset="-120"/>
              </a:rPr>
              <a:t>Avanzamento verso l'obiettivo: 4 procedimenti online su 12 (33%)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a:spLocks noGrp="1"/>
          </p:cNvSpPr>
          <p:nvPr>
            <p:ph type="title" idx="104" hasCustomPrompt="1"/>
          </p:nvPr>
        </p:nvSpPr>
        <p:spPr>
          <a:xfrm>
            <a:off x="548640" y="384048"/>
            <a:ext cx="8046720" cy="502920"/>
          </a:xfrm>
          <a:prstGeom prst="rect">
            <a:avLst/>
          </a:prstGeom>
          <a:noFill/>
          <a:ln/>
        </p:spPr>
        <p:txBody>
          <a:bodyPr wrap="square" lIns="0" tIns="0" rIns="0" bIns="0" rtlCol="0" anchor="ctr"/>
          <a:lstStyle/>
          <a:p>
            <a:pPr marL="0" indent="0" algn="l">
              <a:buNone/>
            </a:pPr>
            <a:r>
              <a:rPr lang="en-US" sz="2200" b="1" dirty="0">
                <a:solidFill>
                  <a:srgbClr val="0B3C6B"/>
                </a:solidFill>
                <a:latin typeface="Calibri" pitchFamily="34" charset="0"/>
                <a:ea typeface="Calibri" pitchFamily="34" charset="-122"/>
                <a:cs typeface="Calibri" pitchFamily="34" charset="-120"/>
              </a:rPr>
              <a:t>Principali risultati quantitativi</a:t>
            </a:r>
            <a:endParaRPr lang="en-US" sz="2200" dirty="0"/>
          </a:p>
        </p:txBody>
      </p:sp>
      <p:sp>
        <p:nvSpPr>
          <p:cNvPr id="3" name="Text 1"/>
          <p:cNvSpPr/>
          <p:nvPr/>
        </p:nvSpPr>
        <p:spPr>
          <a:xfrm>
            <a:off x="548640" y="1024128"/>
            <a:ext cx="8046720" cy="274320"/>
          </a:xfrm>
          <a:prstGeom prst="rect">
            <a:avLst/>
          </a:prstGeom>
          <a:noFill/>
          <a:ln/>
        </p:spPr>
        <p:txBody>
          <a:bodyPr wrap="square" lIns="0" tIns="0" rIns="0" bIns="0" rtlCol="0" anchor="ctr"/>
          <a:lstStyle/>
          <a:p>
            <a:pPr marL="0" indent="0">
              <a:buNone/>
            </a:pPr>
            <a:r>
              <a:rPr lang="en-US" sz="1100" dirty="0">
                <a:solidFill>
                  <a:srgbClr val="8A9099"/>
                </a:solidFill>
                <a:latin typeface="Calibri" pitchFamily="34" charset="0"/>
                <a:ea typeface="Calibri" pitchFamily="34" charset="-122"/>
                <a:cs typeface="Calibri" pitchFamily="34" charset="-120"/>
              </a:rPr>
              <a:t>Dati riferiti al primo trimestre di attività</a:t>
            </a:r>
            <a:endParaRPr lang="en-US" sz="1100" dirty="0"/>
          </a:p>
        </p:txBody>
      </p:sp>
      <p:sp>
        <p:nvSpPr>
          <p:cNvPr id="4" name="Riquadro KPI 1">
            <a:extLst>
              <a:ext uri="{C183D7F6-B498-43B3-948B-1728B52AA6E4}">
                <adec:decorative xmlns:adec="http://schemas.microsoft.com/office/drawing/2017/decorative" val="1"/>
              </a:ext>
            </a:extLst>
          </p:cNvPr>
          <p:cNvSpPr/>
          <p:nvPr/>
        </p:nvSpPr>
        <p:spPr>
          <a:xfrm>
            <a:off x="548640" y="1463040"/>
            <a:ext cx="3200400" cy="960120"/>
          </a:xfrm>
          <a:prstGeom prst="rect">
            <a:avLst/>
          </a:prstGeom>
          <a:solidFill>
            <a:srgbClr val="F4F7FA"/>
          </a:solidFill>
          <a:ln/>
        </p:spPr>
        <p:txBody>
          <a:bodyPr/>
          <a:lstStyle/>
          <a:p>
            <a:endParaRPr lang="it-IT"/>
          </a:p>
        </p:txBody>
      </p:sp>
      <p:sp>
        <p:nvSpPr>
          <p:cNvPr id="5" name="Text 3"/>
          <p:cNvSpPr/>
          <p:nvPr/>
        </p:nvSpPr>
        <p:spPr>
          <a:xfrm>
            <a:off x="777240" y="1572768"/>
            <a:ext cx="2834640" cy="777240"/>
          </a:xfrm>
          <a:prstGeom prst="rect">
            <a:avLst/>
          </a:prstGeom>
          <a:noFill/>
          <a:ln/>
        </p:spPr>
        <p:txBody>
          <a:bodyPr wrap="square" lIns="0" tIns="0" rIns="0" bIns="0" rtlCol="0" anchor="ctr"/>
          <a:lstStyle/>
          <a:p>
            <a:pPr marL="0" indent="0">
              <a:buNone/>
            </a:pPr>
            <a:r>
              <a:rPr lang="en-US" sz="2800" b="1" dirty="0">
                <a:solidFill>
                  <a:srgbClr val="0B3C6B"/>
                </a:solidFill>
                <a:latin typeface="Calibri" pitchFamily="34" charset="0"/>
                <a:ea typeface="Calibri" pitchFamily="34" charset="-122"/>
                <a:cs typeface="Calibri" pitchFamily="34" charset="-120"/>
              </a:rPr>
              <a:t>4.200</a:t>
            </a:r>
            <a:endParaRPr lang="en-US" sz="2800" dirty="0"/>
          </a:p>
          <a:p>
            <a:pPr marL="0" indent="0">
              <a:buNone/>
            </a:pPr>
            <a:r>
              <a:rPr lang="en-US" sz="1100" dirty="0">
                <a:solidFill>
                  <a:srgbClr val="4A4F55"/>
                </a:solidFill>
                <a:latin typeface="Calibri" pitchFamily="34" charset="0"/>
                <a:ea typeface="Calibri" pitchFamily="34" charset="-122"/>
                <a:cs typeface="Calibri" pitchFamily="34" charset="-120"/>
              </a:rPr>
              <a:t>istanze online presentate</a:t>
            </a:r>
            <a:endParaRPr lang="en-US" sz="2800" dirty="0"/>
          </a:p>
        </p:txBody>
      </p:sp>
      <p:sp>
        <p:nvSpPr>
          <p:cNvPr id="6" name="Riquadro KPI 2">
            <a:extLst>
              <a:ext uri="{C183D7F6-B498-43B3-948B-1728B52AA6E4}">
                <adec:decorative xmlns:adec="http://schemas.microsoft.com/office/drawing/2017/decorative" val="1"/>
              </a:ext>
            </a:extLst>
          </p:cNvPr>
          <p:cNvSpPr/>
          <p:nvPr/>
        </p:nvSpPr>
        <p:spPr>
          <a:xfrm>
            <a:off x="548640" y="2606040"/>
            <a:ext cx="3200400" cy="960120"/>
          </a:xfrm>
          <a:prstGeom prst="rect">
            <a:avLst/>
          </a:prstGeom>
          <a:solidFill>
            <a:srgbClr val="F4F7FA"/>
          </a:solidFill>
          <a:ln/>
        </p:spPr>
        <p:txBody>
          <a:bodyPr/>
          <a:lstStyle/>
          <a:p>
            <a:endParaRPr lang="it-IT"/>
          </a:p>
        </p:txBody>
      </p:sp>
      <p:sp>
        <p:nvSpPr>
          <p:cNvPr id="7" name="Text 5"/>
          <p:cNvSpPr/>
          <p:nvPr/>
        </p:nvSpPr>
        <p:spPr>
          <a:xfrm>
            <a:off x="777240" y="2715768"/>
            <a:ext cx="2834640" cy="777240"/>
          </a:xfrm>
          <a:prstGeom prst="rect">
            <a:avLst/>
          </a:prstGeom>
          <a:noFill/>
          <a:ln/>
        </p:spPr>
        <p:txBody>
          <a:bodyPr wrap="square" lIns="0" tIns="0" rIns="0" bIns="0" rtlCol="0" anchor="ctr"/>
          <a:lstStyle/>
          <a:p>
            <a:pPr marL="0" indent="0">
              <a:buNone/>
            </a:pPr>
            <a:r>
              <a:rPr lang="en-US" sz="2800" b="1" dirty="0">
                <a:solidFill>
                  <a:srgbClr val="0B3C6B"/>
                </a:solidFill>
                <a:latin typeface="Calibri" pitchFamily="34" charset="0"/>
                <a:ea typeface="Calibri" pitchFamily="34" charset="-122"/>
                <a:cs typeface="Calibri" pitchFamily="34" charset="-120"/>
              </a:rPr>
              <a:t>-18%</a:t>
            </a:r>
            <a:endParaRPr lang="en-US" sz="2800" dirty="0"/>
          </a:p>
          <a:p>
            <a:pPr marL="0" indent="0">
              <a:buNone/>
            </a:pPr>
            <a:r>
              <a:rPr lang="en-US" sz="1100" dirty="0">
                <a:solidFill>
                  <a:srgbClr val="4A4F55"/>
                </a:solidFill>
                <a:latin typeface="Calibri" pitchFamily="34" charset="0"/>
                <a:ea typeface="Calibri" pitchFamily="34" charset="-122"/>
                <a:cs typeface="Calibri" pitchFamily="34" charset="-120"/>
              </a:rPr>
              <a:t>accessi allo sportello</a:t>
            </a:r>
            <a:endParaRPr lang="en-US" sz="2800" dirty="0"/>
          </a:p>
        </p:txBody>
      </p:sp>
      <p:graphicFrame>
        <p:nvGraphicFramePr>
          <p:cNvPr id="8" name="Grafico tempi di evasione" descr="Grafico a barre: tempo medio di evasione 5,2 giorni per le pratiche online contro 8,7 giorni per quelle cartacee"/>
          <p:cNvGraphicFramePr/>
          <p:nvPr/>
        </p:nvGraphicFramePr>
        <p:xfrm>
          <a:off x="4023360" y="1371600"/>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548640" y="3931920"/>
            <a:ext cx="3200400" cy="731520"/>
          </a:xfrm>
          <a:prstGeom prst="rect">
            <a:avLst/>
          </a:prstGeom>
          <a:noFill/>
          <a:ln/>
        </p:spPr>
        <p:txBody>
          <a:bodyPr wrap="square" lIns="0" tIns="0" rIns="0" bIns="0" rtlCol="0" anchor="ctr"/>
          <a:lstStyle/>
          <a:p>
            <a:pPr marL="0" indent="0">
              <a:buNone/>
            </a:pPr>
            <a:r>
              <a:rPr lang="en-US" sz="1100" dirty="0">
                <a:solidFill>
                  <a:srgbClr val="4A4F55"/>
                </a:solidFill>
                <a:latin typeface="Calibri" pitchFamily="34" charset="0"/>
                <a:ea typeface="Calibri" pitchFamily="34" charset="-122"/>
                <a:cs typeface="Calibri" pitchFamily="34" charset="-120"/>
              </a:rPr>
              <a:t>Reclami complessivamente contenuti; alcune segnalazioni riguardano difficoltà di accesso con SPID/CIE.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a:spLocks noGrp="1"/>
          </p:cNvSpPr>
          <p:nvPr>
            <p:ph type="title" idx="104" hasCustomPrompt="1"/>
          </p:nvPr>
        </p:nvSpPr>
        <p:spPr>
          <a:xfrm>
            <a:off x="548640" y="384048"/>
            <a:ext cx="8046720" cy="502920"/>
          </a:xfrm>
          <a:prstGeom prst="rect">
            <a:avLst/>
          </a:prstGeom>
          <a:noFill/>
          <a:ln/>
        </p:spPr>
        <p:txBody>
          <a:bodyPr wrap="square" lIns="0" tIns="0" rIns="0" bIns="0" rtlCol="0" anchor="ctr"/>
          <a:lstStyle/>
          <a:p>
            <a:pPr marL="0" indent="0" algn="l">
              <a:buNone/>
            </a:pPr>
            <a:r>
              <a:rPr lang="en-US" sz="2200" b="1" dirty="0">
                <a:solidFill>
                  <a:srgbClr val="0B3C6B"/>
                </a:solidFill>
                <a:latin typeface="Calibri" pitchFamily="34" charset="0"/>
                <a:ea typeface="Calibri" pitchFamily="34" charset="-122"/>
                <a:cs typeface="Calibri" pitchFamily="34" charset="-120"/>
              </a:rPr>
              <a:t>Criticità operative</a:t>
            </a:r>
            <a:endParaRPr lang="en-US" sz="2200" dirty="0"/>
          </a:p>
        </p:txBody>
      </p:sp>
      <p:sp>
        <p:nvSpPr>
          <p:cNvPr id="3" name="Barra elenco 1">
            <a:extLst>
              <a:ext uri="{C183D7F6-B498-43B3-948B-1728B52AA6E4}">
                <adec:decorative xmlns:adec="http://schemas.microsoft.com/office/drawing/2017/decorative" val="1"/>
              </a:ext>
            </a:extLst>
          </p:cNvPr>
          <p:cNvSpPr/>
          <p:nvPr/>
        </p:nvSpPr>
        <p:spPr>
          <a:xfrm>
            <a:off x="548640" y="1188720"/>
            <a:ext cx="54864" cy="457200"/>
          </a:xfrm>
          <a:prstGeom prst="rect">
            <a:avLst/>
          </a:prstGeom>
          <a:solidFill>
            <a:srgbClr val="1D6FB8"/>
          </a:solidFill>
          <a:ln/>
        </p:spPr>
        <p:txBody>
          <a:bodyPr/>
          <a:lstStyle/>
          <a:p>
            <a:endParaRPr lang="it-IT"/>
          </a:p>
        </p:txBody>
      </p:sp>
      <p:sp>
        <p:nvSpPr>
          <p:cNvPr id="4" name="Text 2"/>
          <p:cNvSpPr/>
          <p:nvPr/>
        </p:nvSpPr>
        <p:spPr>
          <a:xfrm>
            <a:off x="777240" y="1170432"/>
            <a:ext cx="7772400" cy="822960"/>
          </a:xfrm>
          <a:prstGeom prst="rect">
            <a:avLst/>
          </a:prstGeom>
          <a:noFill/>
          <a:ln/>
        </p:spPr>
        <p:txBody>
          <a:bodyPr wrap="square" lIns="0" tIns="0" rIns="0" bIns="0" rtlCol="0" anchor="t"/>
          <a:lstStyle/>
          <a:p>
            <a:pPr marL="0" indent="0">
              <a:buNone/>
            </a:pPr>
            <a:r>
              <a:rPr lang="en-US" sz="1300" b="1" dirty="0">
                <a:solidFill>
                  <a:srgbClr val="0B3C6B"/>
                </a:solidFill>
                <a:latin typeface="Calibri" pitchFamily="34" charset="0"/>
                <a:ea typeface="Calibri" pitchFamily="34" charset="-122"/>
                <a:cs typeface="Calibri" pitchFamily="34" charset="-120"/>
              </a:rPr>
              <a:t>Integrazione con il protocollo informatico</a:t>
            </a:r>
            <a:endParaRPr lang="en-US" sz="1300" dirty="0"/>
          </a:p>
          <a:p>
            <a:pPr marL="0" indent="0">
              <a:buNone/>
            </a:pPr>
            <a:r>
              <a:rPr lang="en-US" sz="1100" dirty="0">
                <a:solidFill>
                  <a:srgbClr val="4A4F55"/>
                </a:solidFill>
                <a:latin typeface="Calibri" pitchFamily="34" charset="0"/>
                <a:ea typeface="Calibri" pitchFamily="34" charset="-122"/>
                <a:cs typeface="Calibri" pitchFamily="34" charset="-120"/>
              </a:rPr>
              <a:t>Procede più lentamente del previsto, con impatto sui tempi di rilascio dei nuovi procedimenti.</a:t>
            </a:r>
            <a:endParaRPr lang="en-US" sz="1300" dirty="0"/>
          </a:p>
        </p:txBody>
      </p:sp>
      <p:sp>
        <p:nvSpPr>
          <p:cNvPr id="5" name="Barra elenco 2">
            <a:extLst>
              <a:ext uri="{C183D7F6-B498-43B3-948B-1728B52AA6E4}">
                <adec:decorative xmlns:adec="http://schemas.microsoft.com/office/drawing/2017/decorative" val="1"/>
              </a:ext>
            </a:extLst>
          </p:cNvPr>
          <p:cNvSpPr/>
          <p:nvPr/>
        </p:nvSpPr>
        <p:spPr>
          <a:xfrm>
            <a:off x="548640" y="2084832"/>
            <a:ext cx="54864" cy="457200"/>
          </a:xfrm>
          <a:prstGeom prst="rect">
            <a:avLst/>
          </a:prstGeom>
          <a:solidFill>
            <a:srgbClr val="1D6FB8"/>
          </a:solidFill>
          <a:ln/>
        </p:spPr>
        <p:txBody>
          <a:bodyPr/>
          <a:lstStyle/>
          <a:p>
            <a:endParaRPr lang="it-IT"/>
          </a:p>
        </p:txBody>
      </p:sp>
      <p:sp>
        <p:nvSpPr>
          <p:cNvPr id="6" name="Text 4"/>
          <p:cNvSpPr/>
          <p:nvPr/>
        </p:nvSpPr>
        <p:spPr>
          <a:xfrm>
            <a:off x="777240" y="2066544"/>
            <a:ext cx="7772400" cy="822960"/>
          </a:xfrm>
          <a:prstGeom prst="rect">
            <a:avLst/>
          </a:prstGeom>
          <a:noFill/>
          <a:ln/>
        </p:spPr>
        <p:txBody>
          <a:bodyPr wrap="square" lIns="0" tIns="0" rIns="0" bIns="0" rtlCol="0" anchor="t"/>
          <a:lstStyle/>
          <a:p>
            <a:pPr marL="0" indent="0">
              <a:buNone/>
            </a:pPr>
            <a:r>
              <a:rPr lang="en-US" sz="1300" b="1" dirty="0">
                <a:solidFill>
                  <a:srgbClr val="0B3C6B"/>
                </a:solidFill>
                <a:latin typeface="Calibri" pitchFamily="34" charset="0"/>
                <a:ea typeface="Calibri" pitchFamily="34" charset="-122"/>
                <a:cs typeface="Calibri" pitchFamily="34" charset="-120"/>
              </a:rPr>
              <a:t>Disomogeneità della modulistica</a:t>
            </a:r>
            <a:endParaRPr lang="en-US" sz="1300" dirty="0"/>
          </a:p>
          <a:p>
            <a:pPr marL="0" indent="0">
              <a:buNone/>
            </a:pPr>
            <a:r>
              <a:rPr lang="en-US" sz="1100" dirty="0">
                <a:solidFill>
                  <a:srgbClr val="4A4F55"/>
                </a:solidFill>
                <a:latin typeface="Calibri" pitchFamily="34" charset="0"/>
                <a:ea typeface="Calibri" pitchFamily="34" charset="-122"/>
                <a:cs typeface="Calibri" pitchFamily="34" charset="-120"/>
              </a:rPr>
              <a:t>Alcuni uffici utilizzano ancora moduli cartacei differenti tra loro.</a:t>
            </a:r>
            <a:endParaRPr lang="en-US" sz="1300" dirty="0"/>
          </a:p>
        </p:txBody>
      </p:sp>
      <p:sp>
        <p:nvSpPr>
          <p:cNvPr id="7" name="Barra elenco 3">
            <a:extLst>
              <a:ext uri="{C183D7F6-B498-43B3-948B-1728B52AA6E4}">
                <adec:decorative xmlns:adec="http://schemas.microsoft.com/office/drawing/2017/decorative" val="1"/>
              </a:ext>
            </a:extLst>
          </p:cNvPr>
          <p:cNvSpPr/>
          <p:nvPr/>
        </p:nvSpPr>
        <p:spPr>
          <a:xfrm>
            <a:off x="548640" y="2980944"/>
            <a:ext cx="54864" cy="457200"/>
          </a:xfrm>
          <a:prstGeom prst="rect">
            <a:avLst/>
          </a:prstGeom>
          <a:solidFill>
            <a:srgbClr val="1D6FB8"/>
          </a:solidFill>
          <a:ln/>
        </p:spPr>
        <p:txBody>
          <a:bodyPr/>
          <a:lstStyle/>
          <a:p>
            <a:endParaRPr lang="it-IT"/>
          </a:p>
        </p:txBody>
      </p:sp>
      <p:sp>
        <p:nvSpPr>
          <p:cNvPr id="8" name="Text 6"/>
          <p:cNvSpPr/>
          <p:nvPr/>
        </p:nvSpPr>
        <p:spPr>
          <a:xfrm>
            <a:off x="777240" y="2962656"/>
            <a:ext cx="7772400" cy="822960"/>
          </a:xfrm>
          <a:prstGeom prst="rect">
            <a:avLst/>
          </a:prstGeom>
          <a:noFill/>
          <a:ln/>
        </p:spPr>
        <p:txBody>
          <a:bodyPr wrap="square" lIns="0" tIns="0" rIns="0" bIns="0" rtlCol="0" anchor="t"/>
          <a:lstStyle/>
          <a:p>
            <a:pPr marL="0" indent="0">
              <a:buNone/>
            </a:pPr>
            <a:r>
              <a:rPr lang="en-US" sz="1300" b="1" dirty="0">
                <a:solidFill>
                  <a:srgbClr val="0B3C6B"/>
                </a:solidFill>
                <a:latin typeface="Calibri" pitchFamily="34" charset="0"/>
                <a:ea typeface="Calibri" pitchFamily="34" charset="-122"/>
                <a:cs typeface="Calibri" pitchFamily="34" charset="-120"/>
              </a:rPr>
              <a:t>Competenze interne</a:t>
            </a:r>
            <a:endParaRPr lang="en-US" sz="1300" dirty="0"/>
          </a:p>
          <a:p>
            <a:pPr marL="0" indent="0">
              <a:buNone/>
            </a:pPr>
            <a:r>
              <a:rPr lang="en-US" sz="1100" dirty="0">
                <a:solidFill>
                  <a:srgbClr val="4A4F55"/>
                </a:solidFill>
                <a:latin typeface="Calibri" pitchFamily="34" charset="0"/>
                <a:ea typeface="Calibri" pitchFamily="34" charset="-122"/>
                <a:cs typeface="Calibri" pitchFamily="34" charset="-120"/>
              </a:rPr>
              <a:t>È necessaria un'attività di formazione del personale.</a:t>
            </a:r>
            <a:endParaRPr lang="en-US" sz="1300" dirty="0"/>
          </a:p>
        </p:txBody>
      </p:sp>
      <p:sp>
        <p:nvSpPr>
          <p:cNvPr id="9" name="Barra elenco 4">
            <a:extLst>
              <a:ext uri="{C183D7F6-B498-43B3-948B-1728B52AA6E4}">
                <adec:decorative xmlns:adec="http://schemas.microsoft.com/office/drawing/2017/decorative" val="1"/>
              </a:ext>
            </a:extLst>
          </p:cNvPr>
          <p:cNvSpPr/>
          <p:nvPr/>
        </p:nvSpPr>
        <p:spPr>
          <a:xfrm>
            <a:off x="548640" y="3877056"/>
            <a:ext cx="54864" cy="457200"/>
          </a:xfrm>
          <a:prstGeom prst="rect">
            <a:avLst/>
          </a:prstGeom>
          <a:solidFill>
            <a:srgbClr val="1D6FB8"/>
          </a:solidFill>
          <a:ln/>
        </p:spPr>
        <p:txBody>
          <a:bodyPr/>
          <a:lstStyle/>
          <a:p>
            <a:endParaRPr lang="it-IT"/>
          </a:p>
        </p:txBody>
      </p:sp>
      <p:sp>
        <p:nvSpPr>
          <p:cNvPr id="10" name="Text 8"/>
          <p:cNvSpPr/>
          <p:nvPr/>
        </p:nvSpPr>
        <p:spPr>
          <a:xfrm>
            <a:off x="777240" y="3858768"/>
            <a:ext cx="7772400" cy="822960"/>
          </a:xfrm>
          <a:prstGeom prst="rect">
            <a:avLst/>
          </a:prstGeom>
          <a:noFill/>
          <a:ln/>
        </p:spPr>
        <p:txBody>
          <a:bodyPr wrap="square" lIns="0" tIns="0" rIns="0" bIns="0" rtlCol="0" anchor="t"/>
          <a:lstStyle/>
          <a:p>
            <a:pPr marL="0" indent="0">
              <a:buNone/>
            </a:pPr>
            <a:r>
              <a:rPr lang="en-US" sz="1300" b="1" dirty="0">
                <a:solidFill>
                  <a:srgbClr val="0B3C6B"/>
                </a:solidFill>
                <a:latin typeface="Calibri" pitchFamily="34" charset="0"/>
                <a:ea typeface="Calibri" pitchFamily="34" charset="-122"/>
                <a:cs typeface="Calibri" pitchFamily="34" charset="-120"/>
              </a:rPr>
              <a:t>Accesso dei cittadini</a:t>
            </a:r>
            <a:endParaRPr lang="en-US" sz="1300" dirty="0"/>
          </a:p>
          <a:p>
            <a:pPr marL="0" indent="0">
              <a:buNone/>
            </a:pPr>
            <a:r>
              <a:rPr lang="en-US" sz="1100" dirty="0">
                <a:solidFill>
                  <a:srgbClr val="4A4F55"/>
                </a:solidFill>
                <a:latin typeface="Calibri" pitchFamily="34" charset="0"/>
                <a:ea typeface="Calibri" pitchFamily="34" charset="-122"/>
                <a:cs typeface="Calibri" pitchFamily="34" charset="-120"/>
              </a:rPr>
              <a:t>Alcuni cittadini segnalano difficoltà nell'utilizzo di SPID/CIE.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a:spLocks noGrp="1"/>
          </p:cNvSpPr>
          <p:nvPr>
            <p:ph type="title" idx="104" hasCustomPrompt="1"/>
          </p:nvPr>
        </p:nvSpPr>
        <p:spPr>
          <a:xfrm>
            <a:off x="548640" y="384048"/>
            <a:ext cx="8046720" cy="502920"/>
          </a:xfrm>
          <a:prstGeom prst="rect">
            <a:avLst/>
          </a:prstGeom>
          <a:noFill/>
          <a:ln/>
        </p:spPr>
        <p:txBody>
          <a:bodyPr wrap="square" lIns="0" tIns="0" rIns="0" bIns="0" rtlCol="0" anchor="ctr"/>
          <a:lstStyle/>
          <a:p>
            <a:pPr marL="0" indent="0" algn="l">
              <a:buNone/>
            </a:pPr>
            <a:r>
              <a:rPr lang="en-US" sz="2200" b="1" dirty="0">
                <a:solidFill>
                  <a:srgbClr val="0B3C6B"/>
                </a:solidFill>
                <a:latin typeface="Calibri" pitchFamily="34" charset="0"/>
                <a:ea typeface="Calibri" pitchFamily="34" charset="-122"/>
                <a:cs typeface="Calibri" pitchFamily="34" charset="-120"/>
              </a:rPr>
              <a:t>Rischi e misure di mitigazione</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999232"/>
        </p:xfrm>
        <a:graphic>
          <a:graphicData uri="http://schemas.openxmlformats.org/drawingml/2006/table">
            <a:tbl>
              <a:tblPr/>
              <a:tblGrid>
                <a:gridCol w="23774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Rischio</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0B3C6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Effetto potenziale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0B3C6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Misura di mitigazione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0B3C6B"/>
                    </a:solidFill>
                  </a:tcPr>
                </a:tc>
                <a:extLst>
                  <a:ext uri="{0D108BD9-81ED-4DB2-BD59-A6C34878D82A}">
                    <a16:rowId xmlns:a16="http://schemas.microsoft.com/office/drawing/2014/main" val="10000"/>
                  </a:ext>
                </a:extLst>
              </a:tr>
              <a:tr h="658368">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Ritardo nell'integrazione con il protocollo informatico</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Slittamento dei procedimenti da portare online entro dicembre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Priorità ai procedimenti a maggior volume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Uso persistente di moduli cartacei diversi</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Disomogeneità nella gestione delle istanze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Uniformazione della modulistica [da completare]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Carenza di competenze interne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Rallentamento nella gestione delle pratiche online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Approvazione e avvio del piano di formazione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Difficoltà dei cittadini con SPID/CIE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Mancato accesso al servizio online</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050" dirty="0">
                          <a:solidFill>
                            <a:srgbClr val="4A4F55"/>
                          </a:solidFill>
                          <a:latin typeface="Calibri" pitchFamily="34" charset="0"/>
                          <a:ea typeface="Calibri" pitchFamily="34" charset="-122"/>
                          <a:cs typeface="Calibri" pitchFamily="34" charset="-120"/>
                        </a:rPr>
                        <a:t>Supporto assistito presso l'URP</a:t>
                      </a:r>
                      <a:endParaRPr lang="en-US" sz="105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a:spLocks noGrp="1"/>
          </p:cNvSpPr>
          <p:nvPr>
            <p:ph type="title" idx="104" hasCustomPrompt="1"/>
          </p:nvPr>
        </p:nvSpPr>
        <p:spPr>
          <a:xfrm>
            <a:off x="548640" y="384048"/>
            <a:ext cx="8046720" cy="502920"/>
          </a:xfrm>
          <a:prstGeom prst="rect">
            <a:avLst/>
          </a:prstGeom>
          <a:noFill/>
          <a:ln/>
        </p:spPr>
        <p:txBody>
          <a:bodyPr wrap="square" lIns="0" tIns="0" rIns="0" bIns="0" rtlCol="0" anchor="ctr"/>
          <a:lstStyle/>
          <a:p>
            <a:pPr marL="0" indent="0" algn="l">
              <a:buNone/>
            </a:pPr>
            <a:r>
              <a:rPr lang="en-US" sz="2200" b="1" dirty="0">
                <a:solidFill>
                  <a:srgbClr val="0B3C6B"/>
                </a:solidFill>
                <a:latin typeface="Calibri" pitchFamily="34" charset="0"/>
                <a:ea typeface="Calibri" pitchFamily="34" charset="-122"/>
                <a:cs typeface="Calibri" pitchFamily="34" charset="-120"/>
              </a:rPr>
              <a:t>Decisioni richieste alla Direzione</a:t>
            </a:r>
            <a:endParaRPr lang="en-US" sz="2200" dirty="0"/>
          </a:p>
        </p:txBody>
      </p:sp>
      <p:sp>
        <p:nvSpPr>
          <p:cNvPr id="3" name="Riquadro decisione 1">
            <a:extLst>
              <a:ext uri="{C183D7F6-B498-43B3-948B-1728B52AA6E4}">
                <adec:decorative xmlns:adec="http://schemas.microsoft.com/office/drawing/2017/decorative" val="1"/>
              </a:ext>
            </a:extLst>
          </p:cNvPr>
          <p:cNvSpPr/>
          <p:nvPr/>
        </p:nvSpPr>
        <p:spPr>
          <a:xfrm>
            <a:off x="548640" y="1188720"/>
            <a:ext cx="8046720" cy="914400"/>
          </a:xfrm>
          <a:prstGeom prst="rect">
            <a:avLst/>
          </a:prstGeom>
          <a:solidFill>
            <a:srgbClr val="F4F7FA"/>
          </a:solidFill>
          <a:ln/>
        </p:spPr>
        <p:txBody>
          <a:bodyPr/>
          <a:lstStyle/>
          <a:p>
            <a:endParaRPr lang="it-IT"/>
          </a:p>
        </p:txBody>
      </p:sp>
      <p:sp>
        <p:nvSpPr>
          <p:cNvPr id="4" name="Barra decisione 1">
            <a:extLst>
              <a:ext uri="{C183D7F6-B498-43B3-948B-1728B52AA6E4}">
                <adec:decorative xmlns:adec="http://schemas.microsoft.com/office/drawing/2017/decorative" val="1"/>
              </a:ext>
            </a:extLst>
          </p:cNvPr>
          <p:cNvSpPr/>
          <p:nvPr/>
        </p:nvSpPr>
        <p:spPr>
          <a:xfrm>
            <a:off x="548640" y="1188720"/>
            <a:ext cx="64008" cy="914400"/>
          </a:xfrm>
          <a:prstGeom prst="rect">
            <a:avLst/>
          </a:prstGeom>
          <a:solidFill>
            <a:srgbClr val="1D6FB8"/>
          </a:solidFill>
          <a:ln/>
        </p:spPr>
        <p:txBody>
          <a:bodyPr/>
          <a:lstStyle/>
          <a:p>
            <a:endParaRPr lang="it-IT"/>
          </a:p>
        </p:txBody>
      </p:sp>
      <p:sp>
        <p:nvSpPr>
          <p:cNvPr id="5" name="Text 3"/>
          <p:cNvSpPr/>
          <p:nvPr/>
        </p:nvSpPr>
        <p:spPr>
          <a:xfrm>
            <a:off x="777240" y="1389888"/>
            <a:ext cx="457200" cy="502920"/>
          </a:xfrm>
          <a:prstGeom prst="rect">
            <a:avLst/>
          </a:prstGeom>
          <a:noFill/>
          <a:ln/>
        </p:spPr>
        <p:txBody>
          <a:bodyPr wrap="square" lIns="0" tIns="0" rIns="0" bIns="0" rtlCol="0" anchor="ctr"/>
          <a:lstStyle/>
          <a:p>
            <a:pPr marL="0" indent="0" algn="ctr">
              <a:buNone/>
            </a:pPr>
            <a:r>
              <a:rPr lang="en-US" sz="2400" b="1" dirty="0">
                <a:solidFill>
                  <a:srgbClr val="1D6FB8"/>
                </a:solidFill>
                <a:latin typeface="Calibri" pitchFamily="34" charset="0"/>
                <a:ea typeface="Calibri" pitchFamily="34" charset="-122"/>
                <a:cs typeface="Calibri" pitchFamily="34" charset="-120"/>
              </a:rPr>
              <a:t>1</a:t>
            </a:r>
            <a:endParaRPr lang="en-US" sz="2400" dirty="0"/>
          </a:p>
        </p:txBody>
      </p:sp>
      <p:sp>
        <p:nvSpPr>
          <p:cNvPr id="6" name="Text 4"/>
          <p:cNvSpPr/>
          <p:nvPr/>
        </p:nvSpPr>
        <p:spPr>
          <a:xfrm>
            <a:off x="1325880" y="1325880"/>
            <a:ext cx="7040880" cy="685800"/>
          </a:xfrm>
          <a:prstGeom prst="rect">
            <a:avLst/>
          </a:prstGeom>
          <a:noFill/>
          <a:ln/>
        </p:spPr>
        <p:txBody>
          <a:bodyPr wrap="square" lIns="0" tIns="0" rIns="0" bIns="0" rtlCol="0" anchor="t"/>
          <a:lstStyle/>
          <a:p>
            <a:pPr marL="0" indent="0">
              <a:buNone/>
            </a:pPr>
            <a:r>
              <a:rPr lang="en-US" sz="1300" b="1" dirty="0">
                <a:solidFill>
                  <a:srgbClr val="0B3C6B"/>
                </a:solidFill>
                <a:latin typeface="Calibri" pitchFamily="34" charset="0"/>
                <a:ea typeface="Calibri" pitchFamily="34" charset="-122"/>
                <a:cs typeface="Calibri" pitchFamily="34" charset="-120"/>
              </a:rPr>
              <a:t>Priorità di sviluppo</a:t>
            </a:r>
            <a:endParaRPr lang="en-US" sz="1300" dirty="0"/>
          </a:p>
          <a:p>
            <a:pPr marL="0" indent="0">
              <a:buNone/>
            </a:pPr>
            <a:r>
              <a:rPr lang="en-US" sz="1100" dirty="0">
                <a:solidFill>
                  <a:srgbClr val="4A4F55"/>
                </a:solidFill>
                <a:latin typeface="Calibri" pitchFamily="34" charset="0"/>
                <a:ea typeface="Calibri" pitchFamily="34" charset="-122"/>
                <a:cs typeface="Calibri" pitchFamily="34" charset="-120"/>
              </a:rPr>
              <a:t>Dare priorità ai procedimenti con maggior volume di istanze.</a:t>
            </a:r>
            <a:endParaRPr lang="en-US" sz="1300" dirty="0"/>
          </a:p>
        </p:txBody>
      </p:sp>
      <p:sp>
        <p:nvSpPr>
          <p:cNvPr id="7" name="Riquadro decisione 2">
            <a:extLst>
              <a:ext uri="{C183D7F6-B498-43B3-948B-1728B52AA6E4}">
                <adec:decorative xmlns:adec="http://schemas.microsoft.com/office/drawing/2017/decorative" val="1"/>
              </a:ext>
            </a:extLst>
          </p:cNvPr>
          <p:cNvSpPr/>
          <p:nvPr/>
        </p:nvSpPr>
        <p:spPr>
          <a:xfrm>
            <a:off x="548640" y="2240280"/>
            <a:ext cx="8046720" cy="914400"/>
          </a:xfrm>
          <a:prstGeom prst="rect">
            <a:avLst/>
          </a:prstGeom>
          <a:solidFill>
            <a:srgbClr val="F4F7FA"/>
          </a:solidFill>
          <a:ln/>
        </p:spPr>
        <p:txBody>
          <a:bodyPr/>
          <a:lstStyle/>
          <a:p>
            <a:endParaRPr lang="it-IT"/>
          </a:p>
        </p:txBody>
      </p:sp>
      <p:sp>
        <p:nvSpPr>
          <p:cNvPr id="8" name="Barra decisione 2">
            <a:extLst>
              <a:ext uri="{C183D7F6-B498-43B3-948B-1728B52AA6E4}">
                <adec:decorative xmlns:adec="http://schemas.microsoft.com/office/drawing/2017/decorative" val="1"/>
              </a:ext>
            </a:extLst>
          </p:cNvPr>
          <p:cNvSpPr/>
          <p:nvPr/>
        </p:nvSpPr>
        <p:spPr>
          <a:xfrm>
            <a:off x="548640" y="2240280"/>
            <a:ext cx="64008" cy="914400"/>
          </a:xfrm>
          <a:prstGeom prst="rect">
            <a:avLst/>
          </a:prstGeom>
          <a:solidFill>
            <a:srgbClr val="1D6FB8"/>
          </a:solidFill>
          <a:ln/>
        </p:spPr>
        <p:txBody>
          <a:bodyPr/>
          <a:lstStyle/>
          <a:p>
            <a:endParaRPr lang="it-IT"/>
          </a:p>
        </p:txBody>
      </p:sp>
      <p:sp>
        <p:nvSpPr>
          <p:cNvPr id="9" name="Text 7"/>
          <p:cNvSpPr/>
          <p:nvPr/>
        </p:nvSpPr>
        <p:spPr>
          <a:xfrm>
            <a:off x="777240" y="2441448"/>
            <a:ext cx="457200" cy="502920"/>
          </a:xfrm>
          <a:prstGeom prst="rect">
            <a:avLst/>
          </a:prstGeom>
          <a:noFill/>
          <a:ln/>
        </p:spPr>
        <p:txBody>
          <a:bodyPr wrap="square" lIns="0" tIns="0" rIns="0" bIns="0" rtlCol="0" anchor="ctr"/>
          <a:lstStyle/>
          <a:p>
            <a:pPr marL="0" indent="0" algn="ctr">
              <a:buNone/>
            </a:pPr>
            <a:r>
              <a:rPr lang="en-US" sz="2400" b="1" dirty="0">
                <a:solidFill>
                  <a:srgbClr val="1D6FB8"/>
                </a:solidFill>
                <a:latin typeface="Calibri" pitchFamily="34" charset="0"/>
                <a:ea typeface="Calibri" pitchFamily="34" charset="-122"/>
                <a:cs typeface="Calibri" pitchFamily="34" charset="-120"/>
              </a:rPr>
              <a:t>2</a:t>
            </a:r>
            <a:endParaRPr lang="en-US" sz="2400" dirty="0"/>
          </a:p>
        </p:txBody>
      </p:sp>
      <p:sp>
        <p:nvSpPr>
          <p:cNvPr id="10" name="Text 8"/>
          <p:cNvSpPr/>
          <p:nvPr/>
        </p:nvSpPr>
        <p:spPr>
          <a:xfrm>
            <a:off x="1325880" y="2377440"/>
            <a:ext cx="7040880" cy="685800"/>
          </a:xfrm>
          <a:prstGeom prst="rect">
            <a:avLst/>
          </a:prstGeom>
          <a:noFill/>
          <a:ln/>
        </p:spPr>
        <p:txBody>
          <a:bodyPr wrap="square" lIns="0" tIns="0" rIns="0" bIns="0" rtlCol="0" anchor="t"/>
          <a:lstStyle/>
          <a:p>
            <a:pPr marL="0" indent="0">
              <a:buNone/>
            </a:pPr>
            <a:r>
              <a:rPr lang="en-US" sz="1300" b="1" dirty="0">
                <a:solidFill>
                  <a:srgbClr val="0B3C6B"/>
                </a:solidFill>
                <a:latin typeface="Calibri" pitchFamily="34" charset="0"/>
                <a:ea typeface="Calibri" pitchFamily="34" charset="-122"/>
                <a:cs typeface="Calibri" pitchFamily="34" charset="-120"/>
              </a:rPr>
              <a:t>Piano di formazione</a:t>
            </a:r>
            <a:endParaRPr lang="en-US" sz="1300" dirty="0"/>
          </a:p>
          <a:p>
            <a:pPr marL="0" indent="0">
              <a:buNone/>
            </a:pPr>
            <a:r>
              <a:rPr lang="en-US" sz="1100" dirty="0">
                <a:solidFill>
                  <a:srgbClr val="4A4F55"/>
                </a:solidFill>
                <a:latin typeface="Calibri" pitchFamily="34" charset="0"/>
                <a:ea typeface="Calibri" pitchFamily="34" charset="-122"/>
                <a:cs typeface="Calibri" pitchFamily="34" charset="-120"/>
              </a:rPr>
              <a:t>Approvare il piano di formazione interna del personale.</a:t>
            </a:r>
            <a:endParaRPr lang="en-US" sz="1300" dirty="0"/>
          </a:p>
        </p:txBody>
      </p:sp>
      <p:sp>
        <p:nvSpPr>
          <p:cNvPr id="11" name="Riquadro decisione 3">
            <a:extLst>
              <a:ext uri="{C183D7F6-B498-43B3-948B-1728B52AA6E4}">
                <adec:decorative xmlns:adec="http://schemas.microsoft.com/office/drawing/2017/decorative" val="1"/>
              </a:ext>
            </a:extLst>
          </p:cNvPr>
          <p:cNvSpPr/>
          <p:nvPr/>
        </p:nvSpPr>
        <p:spPr>
          <a:xfrm>
            <a:off x="548640" y="3291840"/>
            <a:ext cx="8046720" cy="914400"/>
          </a:xfrm>
          <a:prstGeom prst="rect">
            <a:avLst/>
          </a:prstGeom>
          <a:solidFill>
            <a:srgbClr val="F4F7FA"/>
          </a:solidFill>
          <a:ln/>
        </p:spPr>
        <p:txBody>
          <a:bodyPr/>
          <a:lstStyle/>
          <a:p>
            <a:endParaRPr lang="it-IT"/>
          </a:p>
        </p:txBody>
      </p:sp>
      <p:sp>
        <p:nvSpPr>
          <p:cNvPr id="12" name="Barra decisione 3">
            <a:extLst>
              <a:ext uri="{C183D7F6-B498-43B3-948B-1728B52AA6E4}">
                <adec:decorative xmlns:adec="http://schemas.microsoft.com/office/drawing/2017/decorative" val="1"/>
              </a:ext>
            </a:extLst>
          </p:cNvPr>
          <p:cNvSpPr/>
          <p:nvPr/>
        </p:nvSpPr>
        <p:spPr>
          <a:xfrm>
            <a:off x="548640" y="3291840"/>
            <a:ext cx="64008" cy="914400"/>
          </a:xfrm>
          <a:prstGeom prst="rect">
            <a:avLst/>
          </a:prstGeom>
          <a:solidFill>
            <a:srgbClr val="1D6FB8"/>
          </a:solidFill>
          <a:ln/>
        </p:spPr>
        <p:txBody>
          <a:bodyPr/>
          <a:lstStyle/>
          <a:p>
            <a:endParaRPr lang="it-IT"/>
          </a:p>
        </p:txBody>
      </p:sp>
      <p:sp>
        <p:nvSpPr>
          <p:cNvPr id="13" name="Text 11"/>
          <p:cNvSpPr/>
          <p:nvPr/>
        </p:nvSpPr>
        <p:spPr>
          <a:xfrm>
            <a:off x="777240" y="3493008"/>
            <a:ext cx="457200" cy="502920"/>
          </a:xfrm>
          <a:prstGeom prst="rect">
            <a:avLst/>
          </a:prstGeom>
          <a:noFill/>
          <a:ln/>
        </p:spPr>
        <p:txBody>
          <a:bodyPr wrap="square" lIns="0" tIns="0" rIns="0" bIns="0" rtlCol="0" anchor="ctr"/>
          <a:lstStyle/>
          <a:p>
            <a:pPr marL="0" indent="0" algn="ctr">
              <a:buNone/>
            </a:pPr>
            <a:r>
              <a:rPr lang="en-US" sz="2400" b="1" dirty="0">
                <a:solidFill>
                  <a:srgbClr val="1D6FB8"/>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325880" y="3429000"/>
            <a:ext cx="7040880" cy="685800"/>
          </a:xfrm>
          <a:prstGeom prst="rect">
            <a:avLst/>
          </a:prstGeom>
          <a:noFill/>
          <a:ln/>
        </p:spPr>
        <p:txBody>
          <a:bodyPr wrap="square" lIns="0" tIns="0" rIns="0" bIns="0" rtlCol="0" anchor="t"/>
          <a:lstStyle/>
          <a:p>
            <a:pPr marL="0" indent="0">
              <a:buNone/>
            </a:pPr>
            <a:r>
              <a:rPr lang="en-US" sz="1300" b="1" dirty="0">
                <a:solidFill>
                  <a:srgbClr val="0B3C6B"/>
                </a:solidFill>
                <a:latin typeface="Calibri" pitchFamily="34" charset="0"/>
                <a:ea typeface="Calibri" pitchFamily="34" charset="-122"/>
                <a:cs typeface="Calibri" pitchFamily="34" charset="-120"/>
              </a:rPr>
              <a:t>Supporto ai cittadini</a:t>
            </a:r>
            <a:endParaRPr lang="en-US" sz="1300" dirty="0"/>
          </a:p>
          <a:p>
            <a:pPr marL="0" indent="0">
              <a:buNone/>
            </a:pPr>
            <a:r>
              <a:rPr lang="en-US" sz="1100" dirty="0">
                <a:solidFill>
                  <a:srgbClr val="4A4F55"/>
                </a:solidFill>
                <a:latin typeface="Calibri" pitchFamily="34" charset="0"/>
                <a:ea typeface="Calibri" pitchFamily="34" charset="-122"/>
                <a:cs typeface="Calibri" pitchFamily="34" charset="-120"/>
              </a:rPr>
              <a:t>Valutare l'attivazione di un supporto assistito presso l'URP.</a:t>
            </a:r>
            <a:endParaRPr lang="en-US" sz="1300" dirty="0"/>
          </a:p>
        </p:txBody>
      </p:sp>
      <p:sp>
        <p:nvSpPr>
          <p:cNvPr id="15" name="Text 13"/>
          <p:cNvSpPr/>
          <p:nvPr/>
        </p:nvSpPr>
        <p:spPr>
          <a:xfrm>
            <a:off x="548640" y="4389120"/>
            <a:ext cx="8046720" cy="274320"/>
          </a:xfrm>
          <a:prstGeom prst="rect">
            <a:avLst/>
          </a:prstGeom>
          <a:noFill/>
          <a:ln/>
        </p:spPr>
        <p:txBody>
          <a:bodyPr wrap="square" lIns="0" tIns="0" rIns="0" bIns="0" rtlCol="0" anchor="ctr"/>
          <a:lstStyle/>
          <a:p>
            <a:pPr marL="0" indent="0">
              <a:buNone/>
            </a:pPr>
            <a:r>
              <a:rPr lang="en-US" sz="1100" b="1" dirty="0">
                <a:solidFill>
                  <a:srgbClr val="0B3C6B"/>
                </a:solidFill>
                <a:latin typeface="Calibri" pitchFamily="34" charset="0"/>
                <a:ea typeface="Calibri" pitchFamily="34" charset="-122"/>
                <a:cs typeface="Calibri" pitchFamily="34" charset="-120"/>
              </a:rPr>
              <a:t>Budget residuo disponibile a copertura delle misure: 38.000 €</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a:spLocks noGrp="1"/>
          </p:cNvSpPr>
          <p:nvPr>
            <p:ph type="title" idx="104" hasCustomPrompt="1"/>
          </p:nvPr>
        </p:nvSpPr>
        <p:spPr>
          <a:xfrm>
            <a:off x="548640" y="384048"/>
            <a:ext cx="8046720" cy="502920"/>
          </a:xfrm>
          <a:prstGeom prst="rect">
            <a:avLst/>
          </a:prstGeom>
          <a:noFill/>
          <a:ln/>
        </p:spPr>
        <p:txBody>
          <a:bodyPr wrap="square" lIns="0" tIns="0" rIns="0" bIns="0" rtlCol="0" anchor="ctr"/>
          <a:lstStyle/>
          <a:p>
            <a:pPr marL="0" indent="0" algn="l">
              <a:buNone/>
            </a:pPr>
            <a:r>
              <a:rPr lang="en-US" sz="2200" b="1" dirty="0">
                <a:solidFill>
                  <a:srgbClr val="0B3C6B"/>
                </a:solidFill>
                <a:latin typeface="Calibri" pitchFamily="34" charset="0"/>
                <a:ea typeface="Calibri" pitchFamily="34" charset="-122"/>
                <a:cs typeface="Calibri" pitchFamily="34" charset="-120"/>
              </a:rPr>
              <a:t>Prossimi passi e scadenze</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743200"/>
        </p:xfrm>
        <a:graphic>
          <a:graphicData uri="http://schemas.openxmlformats.org/drawingml/2006/table">
            <a:tbl>
              <a:tblPr/>
              <a:tblGrid>
                <a:gridCol w="43891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Attività</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0B3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Scadenza</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0B3C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Responsabile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0B3C6B"/>
                    </a:solidFill>
                  </a:tcPr>
                </a:tc>
                <a:extLst>
                  <a:ext uri="{0D108BD9-81ED-4DB2-BD59-A6C34878D82A}">
                    <a16:rowId xmlns:a16="http://schemas.microsoft.com/office/drawing/2014/main" val="10000"/>
                  </a:ext>
                </a:extLst>
              </a:tr>
              <a:tr h="475488">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Completamento dei 3 procedimenti in sviluppo</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[da completare]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[da completare]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Rendicontazione intermedia</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30 ottobre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[da completare]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Avvio del piano di formazione interna</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[da completare]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[da completare]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Attivazione del supporto assistito presso l'URP</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[da completare]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[da completare]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12 procedimenti online (obiettivo finale)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Dicembre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tc>
                  <a:txBody>
                    <a:bodyPr/>
                    <a:lstStyle/>
                    <a:p>
                      <a:pPr marL="0" indent="0">
                        <a:buNone/>
                      </a:pPr>
                      <a:r>
                        <a:rPr lang="en-US" sz="1100" dirty="0">
                          <a:solidFill>
                            <a:srgbClr val="4A4F55"/>
                          </a:solidFill>
                          <a:latin typeface="Calibri" pitchFamily="34" charset="0"/>
                          <a:ea typeface="Calibri" pitchFamily="34" charset="-122"/>
                          <a:cs typeface="Calibri" pitchFamily="34" charset="-120"/>
                        </a:rPr>
                        <a:t>[da completare]</a:t>
                      </a:r>
                      <a:endParaRPr lang="en-US" sz="1100" dirty="0">
                        <a:latin typeface="Calibri" charset="0"/>
                        <a:ea typeface="Calibri" charset="0"/>
                        <a:cs typeface="Calibri" charset="0"/>
                      </a:endParaRPr>
                    </a:p>
                  </a:txBody>
                  <a:tcPr anchor="ctr">
                    <a:lnL w="9525" cap="flat" cmpd="sng" algn="ctr">
                      <a:solidFill>
                        <a:srgbClr val="D4D9DE"/>
                      </a:solidFill>
                      <a:prstDash val="solid"/>
                      <a:round/>
                      <a:headEnd type="none" w="med" len="med"/>
                      <a:tailEnd type="none" w="med" len="med"/>
                    </a:lnL>
                    <a:lnR w="9525" cap="flat" cmpd="sng" algn="ctr">
                      <a:solidFill>
                        <a:srgbClr val="D4D9DE"/>
                      </a:solidFill>
                      <a:prstDash val="solid"/>
                      <a:round/>
                      <a:headEnd type="none" w="med" len="med"/>
                      <a:tailEnd type="none" w="med" len="med"/>
                    </a:lnR>
                    <a:lnT w="9525" cap="flat" cmpd="sng" algn="ctr">
                      <a:solidFill>
                        <a:srgbClr val="D4D9DE"/>
                      </a:solidFill>
                      <a:prstDash val="solid"/>
                      <a:round/>
                      <a:headEnd type="none" w="med" len="med"/>
                      <a:tailEnd type="none" w="med" len="med"/>
                    </a:lnT>
                    <a:lnB w="9525" cap="flat" cmpd="sng" algn="ctr">
                      <a:solidFill>
                        <a:srgbClr val="D4D9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4" name="Text 1"/>
          <p:cNvSpPr/>
          <p:nvPr/>
        </p:nvSpPr>
        <p:spPr>
          <a:xfrm>
            <a:off x="548640" y="4160520"/>
            <a:ext cx="8046720" cy="320040"/>
          </a:xfrm>
          <a:prstGeom prst="rect">
            <a:avLst/>
          </a:prstGeom>
          <a:noFill/>
          <a:ln/>
        </p:spPr>
        <p:txBody>
          <a:bodyPr wrap="square" lIns="0" tIns="0" rIns="0" bIns="0" rtlCol="0" anchor="ctr"/>
          <a:lstStyle/>
          <a:p>
            <a:pPr marL="0" indent="0">
              <a:buNone/>
            </a:pPr>
            <a:r>
              <a:rPr lang="en-US" sz="1200" b="1" dirty="0">
                <a:solidFill>
                  <a:srgbClr val="0B3C6B"/>
                </a:solidFill>
                <a:latin typeface="Calibri" pitchFamily="34" charset="0"/>
                <a:ea typeface="Calibri" pitchFamily="34" charset="-122"/>
                <a:cs typeface="Calibri" pitchFamily="34" charset="-120"/>
              </a:rPr>
              <a:t>Prossima scadenza vincolante: rendicontazione intermedia entro il 30 ottobre.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949</Words>
  <Application>Microsoft Office PowerPoint</Application>
  <PresentationFormat>Presentazione su schermo (16:9)</PresentationFormat>
  <Paragraphs>115</Paragraphs>
  <Slides>8</Slides>
  <Notes>8</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8</vt:i4>
      </vt:variant>
    </vt:vector>
  </HeadingPairs>
  <TitlesOfParts>
    <vt:vector size="11" baseType="lpstr">
      <vt:lpstr>Arial</vt:lpstr>
      <vt:lpstr>Calibri</vt:lpstr>
      <vt:lpstr>Office Theme</vt:lpstr>
      <vt:lpstr>Digitalizzazione delle istanze online</vt:lpstr>
      <vt:lpstr>Contesto e finalità del progetto</vt:lpstr>
      <vt:lpstr>Stato di avanzamento</vt:lpstr>
      <vt:lpstr>Principali risultati quantitativi</vt:lpstr>
      <vt:lpstr>Criticità operative</vt:lpstr>
      <vt:lpstr>Rischi e misure di mitigazione</vt:lpstr>
      <vt:lpstr>Decisioni richieste alla Direzione</vt:lpstr>
      <vt:lpstr>Prossimi passi e scadenze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Giovanni Della Lunga</dc:creator>
  <cp:lastModifiedBy>Giovanni Della Lunga</cp:lastModifiedBy>
  <cp:revision>1</cp:revision>
  <dcterms:created xsi:type="dcterms:W3CDTF">2026-07-31T14:19:49Z</dcterms:created>
  <dcterms:modified xsi:type="dcterms:W3CDTF">2026-07-31T14:20:53Z</dcterms:modified>
</cp:coreProperties>
</file>