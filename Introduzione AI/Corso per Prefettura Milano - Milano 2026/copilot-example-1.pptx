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679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CELEX_52025IP0286_EN_TXT.pdf, P10_TA(2025)0286, 2025/2056(INI). Intestazione e paragrafi 2 e 20. Immagine concettuale generata con IA, senza valore documentale. ELI: http://data.europa.eu/eli/C/2026/1701/oj. Sintesi della posizione espressa nella risoluzione, non aggiornamento dello stato normativo.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CELEX_52025IP0286_EN_TXT.pdf, P10_TA(2025)0286, 2025/2056(INI). Paragrafi 1, 2 e 4. I benefici elencati sono potenziali, non risultati quantitativi osservati. ELI: http://data.europa.eu/eli/C/2026/1701/oj. Sintesi della posizione espressa nella risoluzione, non aggiornamento dello stato normativo.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CELEX_52025IP0286_EN_TXT.pdf, P10_TA(2025)0286, 2025/2056(INI). Paragrafi 3 e 6-8, con richiamo alla supervisione umana del paragrafo 24. ELI: http://data.europa.eu/eli/C/2026/1701/oj. Sintesi della posizione espressa nella risoluzione, non aggiornamento dello stato normativo.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CELEX_52025IP0286_EN_TXT.pdf, P10_TA(2025)0286, 2025/2056(INI). Considerando B e paragrafi 11-16, 18 e 20. Le due categorie ad alto rischio richiamate dal documento riguardano persone fisiche. Il Parlamento giudica la normativa settoriale prevalentemente sufficiente per gli usi attuali, richiedendo monitoraggio delle lacune e senza esenzioni generalizzate. ELI: http://data.europa.eu/eli/C/2026/1701/oj. Sintesi della posizione espressa nella risoluzione, non aggiornamento dello stato normativo.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CELEX_52025IP0286_EN_TXT.pdf, P10_TA(2025)0286, 2025/2056(INI). Paragrafi 17-25. Sintesi delle richieste del Parlamento: orientamenti pratici e proporzionati, coordinamento della vigilanza, investimenti europei, competenze, accessibilità, sostenibilità e sperimentazione controllata. La risoluzione chiede di valutare il valore aggiunto di sandbox specifiche per l’IA. ELI: http://data.europa.eu/eli/C/2026/1701/oj. Sintesi della posizione espressa nella risoluzione, non aggiornamento dello stato normativo.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Parlamento europeo · Risoluzione del 25 novembre 2025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315075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000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INTELLIGENZA ARTIFICIALE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000000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638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75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L’IA nel settore</a:t>
            </a:r>
          </a:p>
          <a:p>
            <a:pPr>
              <a:defRPr sz="4875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finanziario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000000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6096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Opportunità, rischi e priorità</a:t>
            </a:r>
          </a:p>
          <a:p>
            <a:pPr>
              <a:defRPr sz="232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del Parlamento europeo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0000001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6000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Risoluzione del 25 novembre 2025</a:t>
            </a:r>
          </a:p>
          <a:p>
            <a:pPr>
              <a:defRPr sz="1650" b="0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2025/2056(INI)</a:t>
            </a: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50495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13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L’adozione parte dai processi interni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Parlamento europeo · Risoluzione del 25 novembre 2025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315075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3981450" cy="3886200"/>
          </a:xfrm>
          <a:prstGeom prst="rect">
            <a:avLst/>
          </a:prstGeom>
          <a:solidFill>
            <a:srgbClr val="1448C4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33147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Oggi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000000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914400" y="2905125"/>
            <a:ext cx="3333750" cy="1219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Prevale il</a:t>
            </a:r>
          </a:p>
          <a:p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back-office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000000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914400" y="4467225"/>
            <a:ext cx="3276600" cy="1057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L’IA generativa resta</a:t>
            </a:r>
          </a:p>
          <a:p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 larga parte in fase</a:t>
            </a:r>
          </a:p>
          <a:p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 sperimentazione.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00000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5219700" y="1866900"/>
            <a:ext cx="62484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Dove può creare valore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0000002-0009-4000-8000-000000000000}"/>
              </a:ext>
            </a:extLst>
          </p:cNvPr>
          <p:cNvSpPr>
            <a:spLocks noGrp="1"/>
          </p:cNvSpPr>
          <p:nvPr/>
        </p:nvSpPr>
        <p:spPr>
          <a:xfrm>
            <a:off x="5219700" y="264795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Controlli più efficaci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0000002-000A-4000-8000-000000000000}"/>
              </a:ext>
            </a:extLst>
          </p:cNvPr>
          <p:cNvSpPr>
            <a:spLocks noGrp="1"/>
          </p:cNvSpPr>
          <p:nvPr/>
        </p:nvSpPr>
        <p:spPr>
          <a:xfrm>
            <a:off x="5219700" y="3105150"/>
            <a:ext cx="6191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Rilevazione delle frodi, antiriciclaggio</a:t>
            </a:r>
          </a:p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e monitoraggio delle transazioni.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0000002-000B-4000-8000-000000000000}"/>
              </a:ext>
            </a:extLst>
          </p:cNvPr>
          <p:cNvSpPr>
            <a:spLocks noGrp="1"/>
          </p:cNvSpPr>
          <p:nvPr/>
        </p:nvSpPr>
        <p:spPr>
          <a:xfrm>
            <a:off x="5219700" y="4038600"/>
            <a:ext cx="6191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Servizi più accessibili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0000002-000C-4000-8000-000000000000}"/>
              </a:ext>
            </a:extLst>
          </p:cNvPr>
          <p:cNvSpPr>
            <a:spLocks noGrp="1"/>
          </p:cNvSpPr>
          <p:nvPr/>
        </p:nvSpPr>
        <p:spPr>
          <a:xfrm>
            <a:off x="5219700" y="4495800"/>
            <a:ext cx="6191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Assistenza e consulenza personalizzate,</a:t>
            </a:r>
          </a:p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con vantaggi da trasferire ai clienti.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0000002-000D-4000-8000-000000000000}"/>
              </a:ext>
            </a:extLst>
          </p:cNvPr>
          <p:cNvSpPr>
            <a:spLocks noGrp="1"/>
          </p:cNvSpPr>
          <p:nvPr/>
        </p:nvSpPr>
        <p:spPr>
          <a:xfrm>
            <a:off x="5219700" y="5467350"/>
            <a:ext cx="6191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Efficienza operativa e supporto alla conformità</a:t>
            </a:r>
          </a:p>
        </p:txBody>
      </p:sp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13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I rischi riguardano clienti e stabilità finanziaria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000000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Parlamento europeo · Risoluzione del 25 novembre 2025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315075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5124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MODELLI E CLIENTI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504825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Errori, opacità e discriminazioni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000000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5076825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Dati inadeguati possono generare</a:t>
            </a:r>
          </a:p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decisioni distorte e violazioni della privacy.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000000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07682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Gli LLM possono produrre allucinazioni</a:t>
            </a:r>
          </a:p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anche con dati di addestramento di qualità.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00000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457950" y="1924050"/>
            <a:ext cx="5124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SISTEMA E FORNITORI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0000003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457950" y="2447925"/>
            <a:ext cx="512445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Concentrazione e dipendenze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0000003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51244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Modelli simili possono favorire</a:t>
            </a:r>
          </a:p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comportamenti omogenei sui mercati.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0000003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457950" y="4381500"/>
            <a:ext cx="51244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Pochi fornitori tecnologici aumentano</a:t>
            </a:r>
          </a:p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i rischi di interruzione e di migrazione.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0000003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486400"/>
            <a:ext cx="10972800" cy="619125"/>
          </a:xfrm>
          <a:prstGeom prst="rect">
            <a:avLst/>
          </a:prstGeom>
          <a:solidFill>
            <a:srgbClr val="EDF3FC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0000003-000D-4000-8000-000000000000}"/>
              </a:ext>
            </a:extLst>
          </p:cNvPr>
          <p:cNvSpPr>
            <a:spLocks noGrp="1"/>
          </p:cNvSpPr>
          <p:nvPr/>
        </p:nvSpPr>
        <p:spPr>
          <a:xfrm>
            <a:off x="809625" y="5629275"/>
            <a:ext cx="10553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Presìdi: dati affidabili, test documentati e supervisione umana</a:t>
            </a:r>
          </a:p>
        </p:txBody>
      </p:sp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Un quadro già ampio, da applicare con coerenza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000000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Parlamento europeo · Risoluzione del 25 novembre 2025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000000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315075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000000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657350" cy="1543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0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0500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000000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2390775" y="2114550"/>
            <a:ext cx="3667125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ambiti ad alto rischio</a:t>
            </a:r>
          </a:p>
          <a:p>
            <a:pPr>
              <a:defRPr sz="2175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richiamati dall’AI Act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000000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Credito alle persone fisiche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000000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50006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Scoring e valutazione del merito creditizio.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000004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Assicurazioni vita e salute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0000004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51054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Valutazione del rischio e determinazione</a:t>
            </a:r>
          </a:p>
          <a:p>
            <a:pPr>
              <a:def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dei premi per le persone fisiche.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0000004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1905000"/>
            <a:ext cx="5105400" cy="4162425"/>
          </a:xfrm>
          <a:prstGeom prst="rect">
            <a:avLst/>
          </a:prstGeom>
          <a:solidFill>
            <a:srgbClr val="EDF3FC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0000004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762750" y="2171700"/>
            <a:ext cx="451485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AI Act + norme finanziarie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0000004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762750" y="3143250"/>
            <a:ext cx="4514850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DORA: resilienza operativa</a:t>
            </a:r>
          </a:p>
          <a:p>
            <a:pPr>
              <a:def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GDPR: protezione dei dati</a:t>
            </a:r>
          </a:p>
          <a:p>
            <a:pPr>
              <a:def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Norme settoriali: governo dei rischi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0000004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762750" y="4591050"/>
            <a:ext cx="4495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La priorità del Parlamento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0000004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762750" y="5057775"/>
            <a:ext cx="45148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Chiarire le sovrapposizioni e rendere</a:t>
            </a:r>
          </a:p>
          <a:p>
            <a:pPr>
              <a:def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proporzionati gli obblighi, monitorando</a:t>
            </a:r>
          </a:p>
          <a:p>
            <a:pPr>
              <a:def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eventuali lacune.</a:t>
            </a:r>
          </a:p>
        </p:txBody>
      </p:sp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tangolo 16">
            <a:extLst>
              <a:ext uri="{FF2B5EF4-FFF2-40B4-BE49-F238E27FC236}">
                <a16:creationId xmlns:a16="http://schemas.microsoft.com/office/drawing/2014/main" id="{00000005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Le priorità per un uso responsabile dell’IA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0000005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Parlamento europeo · Risoluzione del 25 novembre 2025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0000005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315075"/>
            <a:ext cx="5334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0000005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81087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Innovazione e tutela dei clienti</a:t>
            </a:r>
          </a:p>
          <a:p>
            <a:pPr>
              <a:defRPr sz="3225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devono procedere insieme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0000005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67075"/>
            <a:ext cx="7239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lang="it-IT" sz="3150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1</a:t>
            </a:r>
            <a:endParaRPr sz="3150" b="1">
              <a:solidFill>
                <a:srgbClr val="1448C4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0000005-0006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3286125"/>
            <a:ext cx="4238625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Regole chiare e proporzionate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0000005-0007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3990975"/>
            <a:ext cx="419100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Orientamenti pratici</a:t>
            </a:r>
            <a:r>
              <a:rPr lang="it-IT"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e vigilanza</a:t>
            </a:r>
            <a:endParaRPr lang="it-IT" sz="1725" b="0">
              <a:solidFill>
                <a:srgbClr val="52667E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coordinata, </a:t>
            </a:r>
            <a:r>
              <a:rPr lang="it-IT"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con oneri proporzionati</a:t>
            </a:r>
            <a:r>
              <a: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000005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457950" y="3267075"/>
            <a:ext cx="7239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lang="it-IT" sz="3150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2</a:t>
            </a:r>
            <a:endParaRPr sz="3150" b="1">
              <a:solidFill>
                <a:srgbClr val="1448C4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0000005-0009-4000-8000-000000000000}"/>
              </a:ext>
            </a:extLst>
          </p:cNvPr>
          <p:cNvSpPr>
            <a:spLocks noGrp="1"/>
          </p:cNvSpPr>
          <p:nvPr/>
        </p:nvSpPr>
        <p:spPr>
          <a:xfrm>
            <a:off x="7372350" y="3286125"/>
            <a:ext cx="421005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Competenze e controllo umano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0000005-000A-4000-8000-000000000000}"/>
              </a:ext>
            </a:extLst>
          </p:cNvPr>
          <p:cNvSpPr>
            <a:spLocks noGrp="1"/>
          </p:cNvSpPr>
          <p:nvPr/>
        </p:nvSpPr>
        <p:spPr>
          <a:xfrm>
            <a:off x="7372350" y="3990975"/>
            <a:ext cx="42100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Formazione tecnica ed etica</a:t>
            </a:r>
            <a:r>
              <a:rPr lang="it-IT"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.</a:t>
            </a:r>
            <a:endParaRPr sz="1725" b="0">
              <a:solidFill>
                <a:srgbClr val="52667E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lang="it-IT"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Supporto </a:t>
            </a:r>
            <a:r>
              <a: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ai lavoratori e </a:t>
            </a:r>
            <a:r>
              <a:rPr lang="it-IT"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inclusione</a:t>
            </a:r>
            <a:r>
              <a: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0000005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7239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lang="it-IT" sz="3150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3</a:t>
            </a:r>
            <a:endParaRPr sz="3150" b="1">
              <a:solidFill>
                <a:srgbClr val="1448C4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0000005-000C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5019675"/>
            <a:ext cx="4238625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lang="it-IT" sz="2100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Test </a:t>
            </a:r>
            <a:r>
              <a:rPr sz="2100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e </a:t>
            </a:r>
            <a:r>
              <a:rPr lang="it-IT" sz="2100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supervisione</a:t>
            </a:r>
            <a:endParaRPr sz="2100" b="1">
              <a:solidFill>
                <a:srgbClr val="1127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0000005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5543550"/>
            <a:ext cx="4191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lang="it-IT"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Sandbox </a:t>
            </a:r>
            <a:r>
              <a: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e test transfrontalieri.</a:t>
            </a:r>
          </a:p>
          <a:p>
            <a:pPr>
              <a:def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lang="it-IT"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IA</a:t>
            </a:r>
            <a:r>
              <a: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 a supporto dei supervisori.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0000005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457950" y="5000625"/>
            <a:ext cx="7239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448C4"/>
                </a:solidFill>
                <a:latin typeface="DejaVu Sans"/>
                <a:ea typeface="DejaVu Sans"/>
                <a:cs typeface="DejaVu Sans"/>
              </a:defRPr>
            </a:pPr>
            <a:r>
              <a:rPr lang="it-IT" sz="3150" b="1">
                <a:solidFill>
                  <a:srgbClr val="1448C4"/>
                </a:solidFill>
                <a:latin typeface="DejaVu Sans"/>
                <a:ea typeface="DejaVu Sans"/>
                <a:cs typeface="DejaVu Sans"/>
              </a:rPr>
              <a:t>4</a:t>
            </a:r>
            <a:endParaRPr sz="3150" b="1">
              <a:solidFill>
                <a:srgbClr val="1448C4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0000005-000F-4000-8000-000000000000}"/>
              </a:ext>
            </a:extLst>
          </p:cNvPr>
          <p:cNvSpPr>
            <a:spLocks noGrp="1"/>
          </p:cNvSpPr>
          <p:nvPr/>
        </p:nvSpPr>
        <p:spPr>
          <a:xfrm>
            <a:off x="7372350" y="5019675"/>
            <a:ext cx="421005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2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Investimenti </a:t>
            </a:r>
            <a:r>
              <a:rPr lang="it-IT" sz="2100" b="1">
                <a:solidFill>
                  <a:srgbClr val="112747"/>
                </a:solidFill>
                <a:latin typeface="DejaVu Sans"/>
                <a:ea typeface="DejaVu Sans"/>
                <a:cs typeface="DejaVu Sans"/>
              </a:rPr>
              <a:t>europei</a:t>
            </a:r>
            <a:endParaRPr sz="2100" b="1">
              <a:solidFill>
                <a:srgbClr val="1127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0000005-0010-4000-8000-000000000000}"/>
              </a:ext>
            </a:extLst>
          </p:cNvPr>
          <p:cNvSpPr>
            <a:spLocks noGrp="1"/>
          </p:cNvSpPr>
          <p:nvPr/>
        </p:nvSpPr>
        <p:spPr>
          <a:xfrm>
            <a:off x="7372350" y="5543550"/>
            <a:ext cx="42100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lang="it-IT"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Capitale </a:t>
            </a:r>
            <a:r>
              <a: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di rischio e cloud UE.</a:t>
            </a:r>
          </a:p>
          <a:p>
            <a:pPr>
              <a:def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defRPr>
            </a:pPr>
            <a:r>
              <a:rPr lang="it-IT"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Ricerca sull’impatto </a:t>
            </a:r>
            <a:r>
              <a:rPr sz="1725" b="0">
                <a:solidFill>
                  <a:srgbClr val="52667E"/>
                </a:solidFill>
                <a:latin typeface="DejaVu Sans"/>
                <a:ea typeface="DejaVu Sans"/>
                <a:cs typeface="DejaVu Sans"/>
              </a:rPr>
              <a:t>ambientale.</a:t>
            </a:r>
          </a:p>
        </p:txBody>
      </p:sp>
    </p:spTree>
    <p:extLst>
      <p:ext uri="{BB962C8B-B14F-4D97-AF65-F5344CB8AC3E}">
        <p14:creationId xmlns:p14="http://schemas.microsoft.com/office/powerpoint/2010/main" val="5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761</Words>
  <Application>Microsoft Office PowerPoint</Application>
  <PresentationFormat>Widescreen</PresentationFormat>
  <Paragraphs>87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7" baseType="lpstr">
      <vt:lpstr>DejaVu Sans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Della Lunga</dc:creator>
  <cp:lastModifiedBy>Giovanni Della Lunga</cp:lastModifiedBy>
  <cp:revision>3</cp:revision>
  <dcterms:created xsi:type="dcterms:W3CDTF">2026-07-31T14:19:49Z</dcterms:created>
  <dcterms:modified xsi:type="dcterms:W3CDTF">2026-10-19T17:54:09Z</dcterms:modified>
</cp:coreProperties>
</file>